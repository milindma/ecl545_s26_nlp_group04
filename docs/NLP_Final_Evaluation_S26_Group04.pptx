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5" r:id="rId12"/>
    <p:sldId id="265" r:id="rId13"/>
    <p:sldId id="272" r:id="rId14"/>
    <p:sldId id="273" r:id="rId15"/>
    <p:sldId id="274" r:id="rId16"/>
    <p:sldId id="271" r:id="rId17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iKsxEoeL9h7ZXFte0zylOXchQ+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C0D21F-37B3-43F9-A40F-F55C3A6CDC8F}">
  <a:tblStyle styleId="{1EC0D21F-37B3-43F9-A40F-F55C3A6CDC8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E05D79-856A-46DF-9B05-863CC91567B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1"/>
    <p:restoredTop sz="94656"/>
  </p:normalViewPr>
  <p:slideViewPr>
    <p:cSldViewPr snapToGrid="0">
      <p:cViewPr varScale="1">
        <p:scale>
          <a:sx n="138" d="100"/>
          <a:sy n="138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22885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2913063" y="0"/>
            <a:ext cx="222885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EC162E77-B964-255B-9F4C-37CB2B4B2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>
            <a:extLst>
              <a:ext uri="{FF2B5EF4-FFF2-40B4-BE49-F238E27FC236}">
                <a16:creationId xmlns:a16="http://schemas.microsoft.com/office/drawing/2014/main" id="{9D5FEA3B-850E-EBC5-A51E-168CAFBECB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>
            <a:extLst>
              <a:ext uri="{FF2B5EF4-FFF2-40B4-BE49-F238E27FC236}">
                <a16:creationId xmlns:a16="http://schemas.microsoft.com/office/drawing/2014/main" id="{18994DAB-D4DE-2479-B9F1-EC85C5BD24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9871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9A49CD93-D7E9-11C7-8AF2-9E1F4B167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>
            <a:extLst>
              <a:ext uri="{FF2B5EF4-FFF2-40B4-BE49-F238E27FC236}">
                <a16:creationId xmlns:a16="http://schemas.microsoft.com/office/drawing/2014/main" id="{C8F41398-6176-C18B-FE34-E345896E57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:notes">
            <a:extLst>
              <a:ext uri="{FF2B5EF4-FFF2-40B4-BE49-F238E27FC236}">
                <a16:creationId xmlns:a16="http://schemas.microsoft.com/office/drawing/2014/main" id="{79ED4DEB-1612-DAA9-F586-7F3BEBC0F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5294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0C190E44-6AD7-3E63-BDC2-DBF5306C1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>
            <a:extLst>
              <a:ext uri="{FF2B5EF4-FFF2-40B4-BE49-F238E27FC236}">
                <a16:creationId xmlns:a16="http://schemas.microsoft.com/office/drawing/2014/main" id="{E65BB87A-ECC5-1770-A09A-3B29D98C3C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:notes">
            <a:extLst>
              <a:ext uri="{FF2B5EF4-FFF2-40B4-BE49-F238E27FC236}">
                <a16:creationId xmlns:a16="http://schemas.microsoft.com/office/drawing/2014/main" id="{AD09D04C-0581-DA22-1695-BCE894852C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13395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79FE9E38-5513-A5DC-C30D-32031FFE0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>
            <a:extLst>
              <a:ext uri="{FF2B5EF4-FFF2-40B4-BE49-F238E27FC236}">
                <a16:creationId xmlns:a16="http://schemas.microsoft.com/office/drawing/2014/main" id="{BFF50E9F-69C9-7E0D-C922-932BF996FD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:notes">
            <a:extLst>
              <a:ext uri="{FF2B5EF4-FFF2-40B4-BE49-F238E27FC236}">
                <a16:creationId xmlns:a16="http://schemas.microsoft.com/office/drawing/2014/main" id="{1591F55E-3839-923B-8564-17B65EEAE0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2399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>
          <a:extLst>
            <a:ext uri="{FF2B5EF4-FFF2-40B4-BE49-F238E27FC236}">
              <a16:creationId xmlns:a16="http://schemas.microsoft.com/office/drawing/2014/main" id="{DCFCE44F-4AC5-B57B-D4D3-3133CB302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>
            <a:extLst>
              <a:ext uri="{FF2B5EF4-FFF2-40B4-BE49-F238E27FC236}">
                <a16:creationId xmlns:a16="http://schemas.microsoft.com/office/drawing/2014/main" id="{DE5287D3-93D7-9DD8-4EB5-7728B89096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0:notes">
            <a:extLst>
              <a:ext uri="{FF2B5EF4-FFF2-40B4-BE49-F238E27FC236}">
                <a16:creationId xmlns:a16="http://schemas.microsoft.com/office/drawing/2014/main" id="{8A49706E-28CA-A287-D52E-710D3C4A1B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9582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milindma/ECL545_S26_NLP_Group04/tree/main/docs" TargetMode="External"/><Relationship Id="rId4" Type="http://schemas.openxmlformats.org/officeDocument/2006/relationships/hyperlink" Target="https://github.com/milindma/ECL545_S26_NLP_Group04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" descr="A logo of a national institute of technology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2869" y="281594"/>
            <a:ext cx="770119" cy="77011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 txBox="1"/>
          <p:nvPr/>
        </p:nvSpPr>
        <p:spPr>
          <a:xfrm>
            <a:off x="1989937" y="378114"/>
            <a:ext cx="5164127" cy="577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Visvesvaraya National Institute of Technology, Nagpur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Electronics and Communication Engineering Department</a:t>
            </a:r>
            <a:endParaRPr/>
          </a:p>
        </p:txBody>
      </p:sp>
      <p:cxnSp>
        <p:nvCxnSpPr>
          <p:cNvPr id="29" name="Google Shape;29;p1"/>
          <p:cNvCxnSpPr/>
          <p:nvPr/>
        </p:nvCxnSpPr>
        <p:spPr>
          <a:xfrm>
            <a:off x="306586" y="1849650"/>
            <a:ext cx="8285813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" name="Google Shape;30;p1"/>
          <p:cNvSpPr txBox="1"/>
          <p:nvPr/>
        </p:nvSpPr>
        <p:spPr>
          <a:xfrm>
            <a:off x="2193276" y="2107948"/>
            <a:ext cx="475745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Financial Sentiment Analysis Agent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1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09/05/26</a:t>
            </a:r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01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01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/>
        </p:nvSpPr>
        <p:spPr>
          <a:xfrm>
            <a:off x="2286572" y="1087903"/>
            <a:ext cx="4570857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Executive M.Tech. in Applied AI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Cohort 3A sem. 3, Summer 2026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NLP Project (11th May 2026)</a:t>
            </a:r>
            <a:endParaRPr sz="1500" b="1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840385" y="2853993"/>
            <a:ext cx="5461200" cy="882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</a:t>
            </a:r>
            <a:r>
              <a:rPr lang="en-GB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(Group 4)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Milind Mahajan (MT24AAI196) , Chandan Chugh(MT24AAI133) &amp; Brajesh Singh (MT24AAC020)</a:t>
            </a:r>
            <a:endParaRPr sz="18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 txBox="1"/>
          <p:nvPr/>
        </p:nvSpPr>
        <p:spPr>
          <a:xfrm>
            <a:off x="3205210" y="3994823"/>
            <a:ext cx="2732363" cy="882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Dr. Saugata Sinha,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GB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VNIT Nagpur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86750" y="190500"/>
            <a:ext cx="476400" cy="4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-62120" y="7542806"/>
            <a:ext cx="9144000" cy="1647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 txBox="1">
            <a:spLocks noGrp="1"/>
          </p:cNvSpPr>
          <p:nvPr>
            <p:ph type="ctrTitle"/>
          </p:nvPr>
        </p:nvSpPr>
        <p:spPr>
          <a:xfrm>
            <a:off x="381000" y="381000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3200" b="1" dirty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" name="Google Shape;43;p2"/>
          <p:cNvCxnSpPr/>
          <p:nvPr/>
        </p:nvCxnSpPr>
        <p:spPr>
          <a:xfrm>
            <a:off x="381000" y="1000125"/>
            <a:ext cx="8382000" cy="0"/>
          </a:xfrm>
          <a:prstGeom prst="straightConnector1">
            <a:avLst/>
          </a:prstGeom>
          <a:solidFill>
            <a:srgbClr val="FFFFFF"/>
          </a:solidFill>
          <a:ln w="19050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4" name="Google Shape;44;p2"/>
          <p:cNvGrpSpPr/>
          <p:nvPr/>
        </p:nvGrpSpPr>
        <p:grpSpPr>
          <a:xfrm>
            <a:off x="429491" y="2333626"/>
            <a:ext cx="2389909" cy="952500"/>
            <a:chOff x="381000" y="1238250"/>
            <a:chExt cx="4095900" cy="952500"/>
          </a:xfrm>
        </p:grpSpPr>
        <p:sp>
          <p:nvSpPr>
            <p:cNvPr id="45" name="Google Shape;45;p2"/>
            <p:cNvSpPr/>
            <p:nvPr/>
          </p:nvSpPr>
          <p:spPr>
            <a:xfrm>
              <a:off x="381000" y="1238250"/>
              <a:ext cx="4095900" cy="952500"/>
            </a:xfrm>
            <a:prstGeom prst="roundRect">
              <a:avLst>
                <a:gd name="adj" fmla="val 1000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 txBox="1"/>
            <p:nvPr/>
          </p:nvSpPr>
          <p:spPr>
            <a:xfrm>
              <a:off x="381000" y="1238250"/>
              <a:ext cx="57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 dirty="0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sz="2400" b="1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2"/>
            <p:cNvSpPr txBox="1"/>
            <p:nvPr/>
          </p:nvSpPr>
          <p:spPr>
            <a:xfrm>
              <a:off x="1047750" y="1238250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Problem Statement &amp; Dataset</a:t>
              </a:r>
              <a:endParaRPr sz="1600" b="1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" name="Google Shape;48;p2"/>
          <p:cNvGrpSpPr/>
          <p:nvPr/>
        </p:nvGrpSpPr>
        <p:grpSpPr>
          <a:xfrm>
            <a:off x="429492" y="3445197"/>
            <a:ext cx="2493818" cy="1000124"/>
            <a:chOff x="4667250" y="1238250"/>
            <a:chExt cx="4095900" cy="952500"/>
          </a:xfrm>
        </p:grpSpPr>
        <p:sp>
          <p:nvSpPr>
            <p:cNvPr id="49" name="Google Shape;49;p2"/>
            <p:cNvSpPr/>
            <p:nvPr/>
          </p:nvSpPr>
          <p:spPr>
            <a:xfrm>
              <a:off x="4667250" y="1238250"/>
              <a:ext cx="4095900" cy="952500"/>
            </a:xfrm>
            <a:prstGeom prst="roundRect">
              <a:avLst>
                <a:gd name="adj" fmla="val 1000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 txBox="1"/>
            <p:nvPr/>
          </p:nvSpPr>
          <p:spPr>
            <a:xfrm>
              <a:off x="4667250" y="1238250"/>
              <a:ext cx="57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 dirty="0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sz="2400" b="1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2"/>
            <p:cNvSpPr txBox="1"/>
            <p:nvPr/>
          </p:nvSpPr>
          <p:spPr>
            <a:xfrm>
              <a:off x="5334000" y="1238250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Methodology &amp; Pipeline</a:t>
              </a:r>
              <a:endParaRPr sz="160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074843" y="1285723"/>
            <a:ext cx="2493818" cy="797832"/>
            <a:chOff x="381000" y="2381250"/>
            <a:chExt cx="4095900" cy="952500"/>
          </a:xfrm>
        </p:grpSpPr>
        <p:sp>
          <p:nvSpPr>
            <p:cNvPr id="53" name="Google Shape;53;p2"/>
            <p:cNvSpPr/>
            <p:nvPr/>
          </p:nvSpPr>
          <p:spPr>
            <a:xfrm>
              <a:off x="381000" y="2381250"/>
              <a:ext cx="4095900" cy="952500"/>
            </a:xfrm>
            <a:prstGeom prst="roundRect">
              <a:avLst>
                <a:gd name="adj" fmla="val 1000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 txBox="1"/>
            <p:nvPr/>
          </p:nvSpPr>
          <p:spPr>
            <a:xfrm>
              <a:off x="381000" y="2381250"/>
              <a:ext cx="57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 dirty="0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sz="2400" b="1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2"/>
            <p:cNvSpPr txBox="1"/>
            <p:nvPr/>
          </p:nvSpPr>
          <p:spPr>
            <a:xfrm>
              <a:off x="1047750" y="2381250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Models Compared</a:t>
              </a:r>
              <a:endParaRPr sz="160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3074843" y="2342697"/>
            <a:ext cx="2493818" cy="952500"/>
            <a:chOff x="4667250" y="2381250"/>
            <a:chExt cx="4095900" cy="952500"/>
          </a:xfrm>
        </p:grpSpPr>
        <p:sp>
          <p:nvSpPr>
            <p:cNvPr id="57" name="Google Shape;57;p2"/>
            <p:cNvSpPr/>
            <p:nvPr/>
          </p:nvSpPr>
          <p:spPr>
            <a:xfrm>
              <a:off x="4667250" y="2381250"/>
              <a:ext cx="4095900" cy="952500"/>
            </a:xfrm>
            <a:prstGeom prst="roundRect">
              <a:avLst>
                <a:gd name="adj" fmla="val 1000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 txBox="1"/>
            <p:nvPr/>
          </p:nvSpPr>
          <p:spPr>
            <a:xfrm>
              <a:off x="4667250" y="2381250"/>
              <a:ext cx="57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 dirty="0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05</a:t>
              </a:r>
              <a:endParaRPr sz="2400" b="1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2"/>
            <p:cNvSpPr txBox="1"/>
            <p:nvPr/>
          </p:nvSpPr>
          <p:spPr>
            <a:xfrm>
              <a:off x="5334000" y="2381250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Training Strategy &amp; Configuration</a:t>
              </a:r>
              <a:endParaRPr sz="160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" name="Google Shape;60;p2"/>
          <p:cNvGrpSpPr/>
          <p:nvPr/>
        </p:nvGrpSpPr>
        <p:grpSpPr>
          <a:xfrm>
            <a:off x="3074843" y="3426126"/>
            <a:ext cx="2493818" cy="952502"/>
            <a:chOff x="381000" y="3524250"/>
            <a:chExt cx="4095900" cy="952500"/>
          </a:xfrm>
        </p:grpSpPr>
        <p:sp>
          <p:nvSpPr>
            <p:cNvPr id="61" name="Google Shape;61;p2"/>
            <p:cNvSpPr/>
            <p:nvPr/>
          </p:nvSpPr>
          <p:spPr>
            <a:xfrm>
              <a:off x="381000" y="3524250"/>
              <a:ext cx="4095900" cy="952500"/>
            </a:xfrm>
            <a:prstGeom prst="roundRect">
              <a:avLst>
                <a:gd name="adj" fmla="val 1000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 txBox="1"/>
            <p:nvPr/>
          </p:nvSpPr>
          <p:spPr>
            <a:xfrm>
              <a:off x="381000" y="3524250"/>
              <a:ext cx="57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 dirty="0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06</a:t>
              </a:r>
              <a:endParaRPr sz="2400" b="1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2"/>
            <p:cNvSpPr txBox="1"/>
            <p:nvPr/>
          </p:nvSpPr>
          <p:spPr>
            <a:xfrm>
              <a:off x="1047750" y="3524250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Results: </a:t>
              </a:r>
              <a:r>
                <a:rPr lang="en-GB" sz="1600" b="1" dirty="0" err="1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PhraseBank</a:t>
              </a:r>
              <a:r>
                <a:rPr lang="en-GB" sz="1600" b="1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Benchmark &amp; Collected Data</a:t>
              </a:r>
              <a:endParaRPr sz="1600" b="1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" name="Google Shape;64;p2"/>
          <p:cNvGrpSpPr/>
          <p:nvPr/>
        </p:nvGrpSpPr>
        <p:grpSpPr>
          <a:xfrm>
            <a:off x="5720196" y="1285723"/>
            <a:ext cx="2938896" cy="797826"/>
            <a:chOff x="4667250" y="3524250"/>
            <a:chExt cx="4095900" cy="952500"/>
          </a:xfrm>
        </p:grpSpPr>
        <p:sp>
          <p:nvSpPr>
            <p:cNvPr id="65" name="Google Shape;65;p2"/>
            <p:cNvSpPr/>
            <p:nvPr/>
          </p:nvSpPr>
          <p:spPr>
            <a:xfrm>
              <a:off x="4667250" y="3524250"/>
              <a:ext cx="4095900" cy="952500"/>
            </a:xfrm>
            <a:prstGeom prst="roundRect">
              <a:avLst>
                <a:gd name="adj" fmla="val 1000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 txBox="1"/>
            <p:nvPr/>
          </p:nvSpPr>
          <p:spPr>
            <a:xfrm>
              <a:off x="4667250" y="3524250"/>
              <a:ext cx="57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 dirty="0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07</a:t>
              </a:r>
              <a:endParaRPr sz="2400" b="1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2"/>
            <p:cNvSpPr txBox="1"/>
            <p:nvPr/>
          </p:nvSpPr>
          <p:spPr>
            <a:xfrm>
              <a:off x="5334000" y="3524250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Key Findings, Conclusions &amp; Future Work</a:t>
              </a:r>
              <a:endParaRPr sz="1600" b="1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" name="Google Shape;68;p2"/>
          <p:cNvSpPr/>
          <p:nvPr/>
        </p:nvSpPr>
        <p:spPr>
          <a:xfrm>
            <a:off x="0" y="4857750"/>
            <a:ext cx="9144000" cy="2859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"/>
          <p:cNvSpPr txBox="1"/>
          <p:nvPr/>
        </p:nvSpPr>
        <p:spPr>
          <a:xfrm>
            <a:off x="381000" y="4857750"/>
            <a:ext cx="8382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Financial Sentiment Analysis Agent | Group 4 | VNIT Nagpur</a:t>
            </a:r>
            <a:endParaRPr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oogle Shape;44;p2">
            <a:extLst>
              <a:ext uri="{FF2B5EF4-FFF2-40B4-BE49-F238E27FC236}">
                <a16:creationId xmlns:a16="http://schemas.microsoft.com/office/drawing/2014/main" id="{0CB38B61-882E-457F-CCAF-407664F336BC}"/>
              </a:ext>
            </a:extLst>
          </p:cNvPr>
          <p:cNvGrpSpPr/>
          <p:nvPr/>
        </p:nvGrpSpPr>
        <p:grpSpPr>
          <a:xfrm>
            <a:off x="429491" y="1285723"/>
            <a:ext cx="2493818" cy="797833"/>
            <a:chOff x="381000" y="1238250"/>
            <a:chExt cx="4095900" cy="952500"/>
          </a:xfrm>
        </p:grpSpPr>
        <p:sp>
          <p:nvSpPr>
            <p:cNvPr id="3" name="Google Shape;45;p2">
              <a:extLst>
                <a:ext uri="{FF2B5EF4-FFF2-40B4-BE49-F238E27FC236}">
                  <a16:creationId xmlns:a16="http://schemas.microsoft.com/office/drawing/2014/main" id="{B9E0C744-2335-FFE5-AFF0-BF4874C953B1}"/>
                </a:ext>
              </a:extLst>
            </p:cNvPr>
            <p:cNvSpPr/>
            <p:nvPr/>
          </p:nvSpPr>
          <p:spPr>
            <a:xfrm>
              <a:off x="381000" y="1238250"/>
              <a:ext cx="4095900" cy="952500"/>
            </a:xfrm>
            <a:prstGeom prst="roundRect">
              <a:avLst>
                <a:gd name="adj" fmla="val 1000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6;p2">
              <a:extLst>
                <a:ext uri="{FF2B5EF4-FFF2-40B4-BE49-F238E27FC236}">
                  <a16:creationId xmlns:a16="http://schemas.microsoft.com/office/drawing/2014/main" id="{3C34C23B-56A5-F651-08BB-E9D9736CC554}"/>
                </a:ext>
              </a:extLst>
            </p:cNvPr>
            <p:cNvSpPr txBox="1"/>
            <p:nvPr/>
          </p:nvSpPr>
          <p:spPr>
            <a:xfrm>
              <a:off x="381000" y="1238250"/>
              <a:ext cx="57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sz="24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47;p2">
              <a:extLst>
                <a:ext uri="{FF2B5EF4-FFF2-40B4-BE49-F238E27FC236}">
                  <a16:creationId xmlns:a16="http://schemas.microsoft.com/office/drawing/2014/main" id="{61DA13A5-F241-9456-0FA7-3DF0615B8D44}"/>
                </a:ext>
              </a:extLst>
            </p:cNvPr>
            <p:cNvSpPr txBox="1"/>
            <p:nvPr/>
          </p:nvSpPr>
          <p:spPr>
            <a:xfrm>
              <a:off x="1047750" y="1238250"/>
              <a:ext cx="3238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 b="1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GitHub link, slides, and Project Report</a:t>
              </a:r>
              <a:endParaRPr sz="1600" b="1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>
          <a:extLst>
            <a:ext uri="{FF2B5EF4-FFF2-40B4-BE49-F238E27FC236}">
              <a16:creationId xmlns:a16="http://schemas.microsoft.com/office/drawing/2014/main" id="{CBF08F59-DA82-21F6-00F8-C172DBBD7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6">
            <a:extLst>
              <a:ext uri="{FF2B5EF4-FFF2-40B4-BE49-F238E27FC236}">
                <a16:creationId xmlns:a16="http://schemas.microsoft.com/office/drawing/2014/main" id="{D009D304-216F-81A2-D25E-2611F0F822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86750" y="190500"/>
            <a:ext cx="476400" cy="4764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pic>
      <p:grpSp>
        <p:nvGrpSpPr>
          <p:cNvPr id="148" name="Google Shape;148;p6">
            <a:extLst>
              <a:ext uri="{FF2B5EF4-FFF2-40B4-BE49-F238E27FC236}">
                <a16:creationId xmlns:a16="http://schemas.microsoft.com/office/drawing/2014/main" id="{58729BD8-791E-8808-AE85-15DD055D24DC}"/>
              </a:ext>
            </a:extLst>
          </p:cNvPr>
          <p:cNvGrpSpPr/>
          <p:nvPr/>
        </p:nvGrpSpPr>
        <p:grpSpPr>
          <a:xfrm>
            <a:off x="381000" y="381000"/>
            <a:ext cx="7620000" cy="619125"/>
            <a:chOff x="381000" y="381000"/>
            <a:chExt cx="7620000" cy="619125"/>
          </a:xfrm>
        </p:grpSpPr>
        <p:cxnSp>
          <p:nvCxnSpPr>
            <p:cNvPr id="149" name="Google Shape;149;p6">
              <a:extLst>
                <a:ext uri="{FF2B5EF4-FFF2-40B4-BE49-F238E27FC236}">
                  <a16:creationId xmlns:a16="http://schemas.microsoft.com/office/drawing/2014/main" id="{806C73AC-4316-F022-BA82-E4D4B84AE112}"/>
                </a:ext>
              </a:extLst>
            </p:cNvPr>
            <p:cNvCxnSpPr/>
            <p:nvPr/>
          </p:nvCxnSpPr>
          <p:spPr>
            <a:xfrm>
              <a:off x="381000" y="100012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0" name="Google Shape;150;p6">
              <a:extLst>
                <a:ext uri="{FF2B5EF4-FFF2-40B4-BE49-F238E27FC236}">
                  <a16:creationId xmlns:a16="http://schemas.microsoft.com/office/drawing/2014/main" id="{D5539734-B6EA-A100-5616-045EE6CFF04C}"/>
                </a:ext>
              </a:extLst>
            </p:cNvPr>
            <p:cNvSpPr txBox="1"/>
            <p:nvPr/>
          </p:nvSpPr>
          <p:spPr>
            <a:xfrm>
              <a:off x="381000" y="38100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 b="1" dirty="0" err="1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Github</a:t>
              </a:r>
              <a:r>
                <a:rPr lang="en-GB" sz="32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 link, slides and Project Report</a:t>
              </a:r>
            </a:p>
          </p:txBody>
        </p:sp>
      </p:grpSp>
      <p:grpSp>
        <p:nvGrpSpPr>
          <p:cNvPr id="151" name="Google Shape;151;p6">
            <a:extLst>
              <a:ext uri="{FF2B5EF4-FFF2-40B4-BE49-F238E27FC236}">
                <a16:creationId xmlns:a16="http://schemas.microsoft.com/office/drawing/2014/main" id="{B6E0DBD2-9CA4-1FA7-EFC0-0FBD35FC659A}"/>
              </a:ext>
            </a:extLst>
          </p:cNvPr>
          <p:cNvGrpSpPr/>
          <p:nvPr/>
        </p:nvGrpSpPr>
        <p:grpSpPr>
          <a:xfrm>
            <a:off x="381000" y="1190624"/>
            <a:ext cx="8382000" cy="2466975"/>
            <a:chOff x="381000" y="1190625"/>
            <a:chExt cx="8382000" cy="1714500"/>
          </a:xfrm>
        </p:grpSpPr>
        <p:sp>
          <p:nvSpPr>
            <p:cNvPr id="152" name="Google Shape;152;p6">
              <a:extLst>
                <a:ext uri="{FF2B5EF4-FFF2-40B4-BE49-F238E27FC236}">
                  <a16:creationId xmlns:a16="http://schemas.microsoft.com/office/drawing/2014/main" id="{C7E54B41-EA49-64D4-97EA-CCD6A45B85B7}"/>
                </a:ext>
              </a:extLst>
            </p:cNvPr>
            <p:cNvSpPr/>
            <p:nvPr/>
          </p:nvSpPr>
          <p:spPr>
            <a:xfrm>
              <a:off x="381000" y="1190625"/>
              <a:ext cx="8382000" cy="1714500"/>
            </a:xfrm>
            <a:prstGeom prst="roundRect">
              <a:avLst>
                <a:gd name="adj" fmla="val 5555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6">
              <a:extLst>
                <a:ext uri="{FF2B5EF4-FFF2-40B4-BE49-F238E27FC236}">
                  <a16:creationId xmlns:a16="http://schemas.microsoft.com/office/drawing/2014/main" id="{F9B10BF6-55A8-1722-6680-0D10B51D3E6C}"/>
                </a:ext>
              </a:extLst>
            </p:cNvPr>
            <p:cNvSpPr txBox="1"/>
            <p:nvPr/>
          </p:nvSpPr>
          <p:spPr>
            <a:xfrm>
              <a:off x="571500" y="1285875"/>
              <a:ext cx="8001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665" b="1" dirty="0" err="1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Github</a:t>
              </a:r>
              <a:r>
                <a:rPr lang="en-IN" sz="1665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 link - </a:t>
              </a:r>
              <a:r>
                <a:rPr lang="en-IN" sz="1665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  <a:hlinkClick r:id="rId4"/>
                </a:rPr>
                <a:t>https://github.com/milindma/ECL545_S26_NLP_Group04/</a:t>
              </a:r>
              <a:r>
                <a:rPr lang="en-IN" sz="1665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 (This Repository is publicly available to everyone)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665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Presentation link –  </a:t>
              </a:r>
              <a:r>
                <a:rPr lang="en-IN" sz="1665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  <a:hlinkClick r:id="rId5"/>
                </a:rPr>
                <a:t>https://github.com/milindma/ECL545_S26_NLP_Group04/tree/main/docs</a:t>
              </a:r>
              <a:r>
                <a:rPr lang="en-IN" sz="1665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665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Project Report - </a:t>
              </a:r>
              <a:r>
                <a:rPr lang="en-IN" sz="1665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  <a:hlinkClick r:id="rId5"/>
                </a:rPr>
                <a:t>https://github.com/milindma/ECL545_S26_NLP_Group04/tree/main/docs</a:t>
              </a:r>
              <a:r>
                <a:rPr lang="en-IN" sz="1665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</a:p>
            <a:p>
              <a:pPr lvl="0"/>
              <a:endParaRPr sz="1665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6">
            <a:extLst>
              <a:ext uri="{FF2B5EF4-FFF2-40B4-BE49-F238E27FC236}">
                <a16:creationId xmlns:a16="http://schemas.microsoft.com/office/drawing/2014/main" id="{48A0751B-7341-F875-FFF4-D53F8EC20B83}"/>
              </a:ext>
            </a:extLst>
          </p:cNvPr>
          <p:cNvGrpSpPr/>
          <p:nvPr/>
        </p:nvGrpSpPr>
        <p:grpSpPr>
          <a:xfrm>
            <a:off x="0" y="4857750"/>
            <a:ext cx="9144000" cy="285900"/>
            <a:chOff x="0" y="4857750"/>
            <a:chExt cx="9144000" cy="285900"/>
          </a:xfrm>
        </p:grpSpPr>
        <p:sp>
          <p:nvSpPr>
            <p:cNvPr id="158" name="Google Shape;158;p6">
              <a:extLst>
                <a:ext uri="{FF2B5EF4-FFF2-40B4-BE49-F238E27FC236}">
                  <a16:creationId xmlns:a16="http://schemas.microsoft.com/office/drawing/2014/main" id="{6D997F83-64AC-2607-C47B-EC7748B2F17A}"/>
                </a:ext>
              </a:extLst>
            </p:cNvPr>
            <p:cNvSpPr/>
            <p:nvPr/>
          </p:nvSpPr>
          <p:spPr>
            <a:xfrm>
              <a:off x="0" y="4857750"/>
              <a:ext cx="9144000" cy="2859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6">
              <a:extLst>
                <a:ext uri="{FF2B5EF4-FFF2-40B4-BE49-F238E27FC236}">
                  <a16:creationId xmlns:a16="http://schemas.microsoft.com/office/drawing/2014/main" id="{5825817E-8D74-1386-F5AE-2BF5F17D9B47}"/>
                </a:ext>
              </a:extLst>
            </p:cNvPr>
            <p:cNvSpPr txBox="1"/>
            <p:nvPr/>
          </p:nvSpPr>
          <p:spPr>
            <a:xfrm>
              <a:off x="381000" y="485775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Financial Sentiment Analysis Agent | Group 4 | VNIT Nagpur</a:t>
              </a:r>
              <a:endParaRPr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7647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86750" y="190500"/>
            <a:ext cx="476400" cy="47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" name="Google Shape;75;p3"/>
          <p:cNvGrpSpPr/>
          <p:nvPr/>
        </p:nvGrpSpPr>
        <p:grpSpPr>
          <a:xfrm>
            <a:off x="381000" y="381000"/>
            <a:ext cx="8382000" cy="619125"/>
            <a:chOff x="381000" y="381000"/>
            <a:chExt cx="8382000" cy="619125"/>
          </a:xfrm>
        </p:grpSpPr>
        <p:sp>
          <p:nvSpPr>
            <p:cNvPr id="76" name="Google Shape;76;p3"/>
            <p:cNvSpPr/>
            <p:nvPr/>
          </p:nvSpPr>
          <p:spPr>
            <a:xfrm>
              <a:off x="381000" y="381000"/>
              <a:ext cx="7620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 txBox="1"/>
            <p:nvPr/>
          </p:nvSpPr>
          <p:spPr>
            <a:xfrm>
              <a:off x="381000" y="38100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 b="1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Problem Statement</a:t>
              </a:r>
              <a:endParaRPr sz="32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8" name="Google Shape;78;p3"/>
            <p:cNvCxnSpPr/>
            <p:nvPr/>
          </p:nvCxnSpPr>
          <p:spPr>
            <a:xfrm>
              <a:off x="381000" y="1000125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79" name="Google Shape;79;p3"/>
          <p:cNvGrpSpPr/>
          <p:nvPr/>
        </p:nvGrpSpPr>
        <p:grpSpPr>
          <a:xfrm>
            <a:off x="381000" y="1333500"/>
            <a:ext cx="8382000" cy="2857500"/>
            <a:chOff x="381000" y="1333500"/>
            <a:chExt cx="8382000" cy="2857500"/>
          </a:xfrm>
        </p:grpSpPr>
        <p:sp>
          <p:nvSpPr>
            <p:cNvPr id="80" name="Google Shape;80;p3"/>
            <p:cNvSpPr/>
            <p:nvPr/>
          </p:nvSpPr>
          <p:spPr>
            <a:xfrm>
              <a:off x="381000" y="1333500"/>
              <a:ext cx="3810000" cy="2857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 txBox="1"/>
            <p:nvPr/>
          </p:nvSpPr>
          <p:spPr>
            <a:xfrm>
              <a:off x="571500" y="1524000"/>
              <a:ext cx="3429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The Challenge</a:t>
              </a:r>
              <a:endParaRPr sz="18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GB" sz="1600" b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Manually analysing financial news sentiment is </a:t>
              </a:r>
              <a:r>
                <a:rPr lang="en-GB" sz="1600" b="1">
                  <a:solidFill>
                    <a:srgbClr val="C2410C"/>
                  </a:solidFill>
                  <a:latin typeface="Calibri"/>
                  <a:ea typeface="Calibri"/>
                  <a:cs typeface="Calibri"/>
                  <a:sym typeface="Calibri"/>
                </a:rPr>
                <a:t>time-consuming</a:t>
              </a:r>
              <a:r>
                <a:rPr lang="en-GB" sz="1600" b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and </a:t>
              </a:r>
              <a:r>
                <a:rPr lang="en-GB" sz="1600" b="1">
                  <a:solidFill>
                    <a:srgbClr val="C2410C"/>
                  </a:solidFill>
                  <a:latin typeface="Calibri"/>
                  <a:ea typeface="Calibri"/>
                  <a:cs typeface="Calibri"/>
                  <a:sym typeface="Calibri"/>
                </a:rPr>
                <a:t>inconsistent</a:t>
              </a:r>
              <a:r>
                <a:rPr lang="en-GB" sz="1600" b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600" b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4381500" y="1333500"/>
              <a:ext cx="4381500" cy="2857500"/>
            </a:xfrm>
            <a:prstGeom prst="roundRect">
              <a:avLst>
                <a:gd name="adj" fmla="val 3333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3"/>
            <p:cNvSpPr txBox="1"/>
            <p:nvPr/>
          </p:nvSpPr>
          <p:spPr>
            <a:xfrm>
              <a:off x="4572000" y="1524000"/>
              <a:ext cx="40005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The Objective</a:t>
              </a:r>
              <a:endParaRPr sz="18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GB" sz="1600" b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Build an automated system to classify headlines into </a:t>
              </a:r>
              <a:r>
                <a:rPr lang="en-GB" sz="1600" b="1">
                  <a:solidFill>
                    <a:srgbClr val="059669"/>
                  </a:solidFill>
                  <a:latin typeface="Calibri"/>
                  <a:ea typeface="Calibri"/>
                  <a:cs typeface="Calibri"/>
                  <a:sym typeface="Calibri"/>
                </a:rPr>
                <a:t>Positive</a:t>
              </a:r>
              <a:r>
                <a:rPr lang="en-GB" sz="1600" b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en-GB" sz="1600" b="1">
                  <a:solidFill>
                    <a:srgbClr val="DC2626"/>
                  </a:solidFill>
                  <a:latin typeface="Calibri"/>
                  <a:ea typeface="Calibri"/>
                  <a:cs typeface="Calibri"/>
                  <a:sym typeface="Calibri"/>
                </a:rPr>
                <a:t>Negative</a:t>
              </a:r>
              <a:r>
                <a:rPr lang="en-GB" sz="1600" b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, or </a:t>
              </a:r>
              <a:r>
                <a:rPr lang="en-GB" sz="1600" b="1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Neutral</a:t>
              </a:r>
              <a:r>
                <a:rPr lang="en-GB" sz="1600" b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sentiment.</a:t>
              </a:r>
              <a:endParaRPr sz="1600" b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GB" sz="1600" b="1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Approaches Evaluated:</a:t>
              </a:r>
              <a:endParaRPr sz="1600" b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330200" algn="l" rtl="0">
                <a:spcBef>
                  <a:spcPts val="375"/>
                </a:spcBef>
                <a:spcAft>
                  <a:spcPts val="0"/>
                </a:spcAft>
                <a:buClr>
                  <a:srgbClr val="334155"/>
                </a:buClr>
                <a:buSzPts val="1600"/>
                <a:buFont typeface="Calibri"/>
                <a:buChar char="●"/>
              </a:pPr>
              <a:r>
                <a:rPr lang="en-GB" sz="1600" b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BERT (zero-shot)</a:t>
              </a:r>
              <a:endParaRPr sz="1600" b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330200" algn="l" rtl="0">
                <a:spcBef>
                  <a:spcPts val="375"/>
                </a:spcBef>
                <a:spcAft>
                  <a:spcPts val="0"/>
                </a:spcAft>
                <a:buClr>
                  <a:srgbClr val="334155"/>
                </a:buClr>
                <a:buSzPts val="1600"/>
                <a:buFont typeface="Calibri"/>
                <a:buChar char="●"/>
              </a:pPr>
              <a:r>
                <a:rPr lang="en-GB" sz="1600" b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Fine-tuned BERT</a:t>
              </a:r>
              <a:endParaRPr sz="1600" b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330200" algn="l" rtl="0">
                <a:spcBef>
                  <a:spcPts val="375"/>
                </a:spcBef>
                <a:spcAft>
                  <a:spcPts val="0"/>
                </a:spcAft>
                <a:buClr>
                  <a:srgbClr val="334155"/>
                </a:buClr>
                <a:buSzPts val="1600"/>
                <a:buFont typeface="Calibri"/>
                <a:buChar char="●"/>
              </a:pPr>
              <a:r>
                <a:rPr lang="en-GB" sz="1600" b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FinBERT (zero-shot)</a:t>
              </a:r>
              <a:endParaRPr sz="1600" b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" name="Google Shape;84;p3"/>
          <p:cNvGrpSpPr/>
          <p:nvPr/>
        </p:nvGrpSpPr>
        <p:grpSpPr>
          <a:xfrm>
            <a:off x="0" y="4857750"/>
            <a:ext cx="9144000" cy="285900"/>
            <a:chOff x="0" y="4857750"/>
            <a:chExt cx="9144000" cy="285900"/>
          </a:xfrm>
        </p:grpSpPr>
        <p:sp>
          <p:nvSpPr>
            <p:cNvPr id="85" name="Google Shape;85;p3"/>
            <p:cNvSpPr/>
            <p:nvPr/>
          </p:nvSpPr>
          <p:spPr>
            <a:xfrm>
              <a:off x="0" y="4857750"/>
              <a:ext cx="9144000" cy="2859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 txBox="1"/>
            <p:nvPr/>
          </p:nvSpPr>
          <p:spPr>
            <a:xfrm>
              <a:off x="381000" y="485775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Financial Sentiment Analysis Agent | Group 4 | VNIT Nagpur</a:t>
              </a:r>
              <a:endParaRPr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86750" y="190500"/>
            <a:ext cx="476400" cy="4764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pic>
      <p:grpSp>
        <p:nvGrpSpPr>
          <p:cNvPr id="92" name="Google Shape;92;p4"/>
          <p:cNvGrpSpPr/>
          <p:nvPr/>
        </p:nvGrpSpPr>
        <p:grpSpPr>
          <a:xfrm>
            <a:off x="381000" y="381000"/>
            <a:ext cx="8382000" cy="619125"/>
            <a:chOff x="381000" y="381000"/>
            <a:chExt cx="8382000" cy="619125"/>
          </a:xfrm>
        </p:grpSpPr>
        <p:cxnSp>
          <p:nvCxnSpPr>
            <p:cNvPr id="93" name="Google Shape;93;p4"/>
            <p:cNvCxnSpPr/>
            <p:nvPr/>
          </p:nvCxnSpPr>
          <p:spPr>
            <a:xfrm>
              <a:off x="381000" y="1000125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4" name="Google Shape;94;p4"/>
            <p:cNvSpPr txBox="1"/>
            <p:nvPr/>
          </p:nvSpPr>
          <p:spPr>
            <a:xfrm>
              <a:off x="381000" y="38100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 b="1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Dataset Overview</a:t>
              </a:r>
              <a:endParaRPr sz="32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4"/>
          <p:cNvGrpSpPr/>
          <p:nvPr/>
        </p:nvGrpSpPr>
        <p:grpSpPr>
          <a:xfrm>
            <a:off x="381000" y="1238250"/>
            <a:ext cx="4095900" cy="1666800"/>
            <a:chOff x="381000" y="1238250"/>
            <a:chExt cx="4095900" cy="1666800"/>
          </a:xfrm>
        </p:grpSpPr>
        <p:sp>
          <p:nvSpPr>
            <p:cNvPr id="96" name="Google Shape;96;p4"/>
            <p:cNvSpPr/>
            <p:nvPr/>
          </p:nvSpPr>
          <p:spPr>
            <a:xfrm>
              <a:off x="381000" y="1238250"/>
              <a:ext cx="4095900" cy="166680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4"/>
            <p:cNvSpPr txBox="1"/>
            <p:nvPr/>
          </p:nvSpPr>
          <p:spPr>
            <a:xfrm>
              <a:off x="571500" y="1428750"/>
              <a:ext cx="3714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/>
              <a:r>
                <a:rPr lang="en-GB" sz="18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Training Data </a:t>
              </a: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400" b="0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Financial headlines (</a:t>
              </a:r>
              <a:r>
                <a:rPr lang="en-GB" sz="1400" b="0" dirty="0" err="1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financial_sentiment.csv</a:t>
              </a:r>
              <a:r>
                <a:rPr lang="en-GB" sz="1400" b="0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) merged from multiple public sources.</a:t>
              </a: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400" b="1" dirty="0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Split: </a:t>
              </a:r>
              <a:r>
                <a:rPr lang="en-GB" sz="1400" b="0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80/10/10 (train/</a:t>
              </a:r>
              <a:r>
                <a:rPr lang="en-GB" sz="1400" b="0" dirty="0" err="1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val</a:t>
              </a:r>
              <a:r>
                <a:rPr lang="en-GB" sz="1400" b="0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/test)</a:t>
              </a:r>
              <a:endParaRPr sz="1400" b="1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4"/>
          <p:cNvGrpSpPr/>
          <p:nvPr/>
        </p:nvGrpSpPr>
        <p:grpSpPr>
          <a:xfrm>
            <a:off x="4667250" y="1238250"/>
            <a:ext cx="4095900" cy="1666800"/>
            <a:chOff x="4667250" y="1238250"/>
            <a:chExt cx="4095900" cy="1666800"/>
          </a:xfrm>
        </p:grpSpPr>
        <p:sp>
          <p:nvSpPr>
            <p:cNvPr id="99" name="Google Shape;99;p4"/>
            <p:cNvSpPr/>
            <p:nvPr/>
          </p:nvSpPr>
          <p:spPr>
            <a:xfrm>
              <a:off x="4667250" y="1238250"/>
              <a:ext cx="4095900" cy="1666800"/>
            </a:xfrm>
            <a:prstGeom prst="roundRect">
              <a:avLst>
                <a:gd name="adj" fmla="val 5714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4"/>
            <p:cNvSpPr txBox="1"/>
            <p:nvPr/>
          </p:nvSpPr>
          <p:spPr>
            <a:xfrm>
              <a:off x="4857750" y="1428750"/>
              <a:ext cx="37149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Evaluation Set 1</a:t>
              </a:r>
              <a:endParaRPr sz="18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400" b="0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453 sentences</a:t>
              </a:r>
              <a:r>
                <a:rPr lang="en-GB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with the following breakdown</a:t>
              </a: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400" b="1" dirty="0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Breakdown: </a:t>
              </a:r>
              <a:r>
                <a:rPr lang="en-GB" sz="1400" b="0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114(+), 61(-), 278(n)</a:t>
              </a:r>
              <a:endParaRPr sz="1400" b="1" dirty="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4"/>
          <p:cNvGrpSpPr/>
          <p:nvPr/>
        </p:nvGrpSpPr>
        <p:grpSpPr>
          <a:xfrm>
            <a:off x="381000" y="3095625"/>
            <a:ext cx="8382000" cy="1571700"/>
            <a:chOff x="381000" y="3095625"/>
            <a:chExt cx="8382000" cy="1571700"/>
          </a:xfrm>
        </p:grpSpPr>
        <p:sp>
          <p:nvSpPr>
            <p:cNvPr id="102" name="Google Shape;102;p4"/>
            <p:cNvSpPr/>
            <p:nvPr/>
          </p:nvSpPr>
          <p:spPr>
            <a:xfrm>
              <a:off x="381000" y="3095625"/>
              <a:ext cx="8382000" cy="1571700"/>
            </a:xfrm>
            <a:prstGeom prst="roundRect">
              <a:avLst>
                <a:gd name="adj" fmla="val 6060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4"/>
            <p:cNvSpPr txBox="1"/>
            <p:nvPr/>
          </p:nvSpPr>
          <p:spPr>
            <a:xfrm>
              <a:off x="571500" y="3238500"/>
              <a:ext cx="80010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Evaluation Set 2 — Collected Unseen Data</a:t>
              </a:r>
              <a:endParaRPr sz="18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400" b="0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1,845 financial headlines from Economic Times &amp; The Hindu Business Line (April 2026).</a:t>
              </a:r>
              <a:endParaRPr sz="1400" b="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GB" sz="1400" b="0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Balanced evaluation subset of 1,000 samples (334/333/333) for fair per-class assessment.</a:t>
              </a:r>
              <a:endParaRPr sz="1400" b="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GB" sz="14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Labels: </a:t>
              </a:r>
              <a:r>
                <a:rPr lang="en-GB" sz="1400" b="0" dirty="0">
                  <a:solidFill>
                    <a:srgbClr val="059669"/>
                  </a:solidFill>
                  <a:latin typeface="Calibri"/>
                  <a:ea typeface="Calibri"/>
                  <a:cs typeface="Calibri"/>
                  <a:sym typeface="Calibri"/>
                </a:rPr>
                <a:t>Positive</a:t>
              </a:r>
              <a:r>
                <a:rPr lang="en-GB" sz="14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en-GB" sz="1400" b="0" dirty="0">
                  <a:solidFill>
                    <a:srgbClr val="DC2626"/>
                  </a:solidFill>
                  <a:latin typeface="Calibri"/>
                  <a:ea typeface="Calibri"/>
                  <a:cs typeface="Calibri"/>
                  <a:sym typeface="Calibri"/>
                </a:rPr>
                <a:t>Negative</a:t>
              </a:r>
              <a:r>
                <a:rPr lang="en-GB" sz="14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lang="en-GB" sz="1400" b="0" dirty="0">
                  <a:solidFill>
                    <a:srgbClr val="6B7280"/>
                  </a:solidFill>
                  <a:latin typeface="Calibri"/>
                  <a:ea typeface="Calibri"/>
                  <a:cs typeface="Calibri"/>
                  <a:sym typeface="Calibri"/>
                </a:rPr>
                <a:t>Neutral</a:t>
              </a:r>
              <a:r>
                <a:rPr lang="en-GB" sz="14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GB" sz="1400" b="0" i="1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(Manually verified)</a:t>
              </a:r>
              <a:endParaRPr sz="14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4"/>
          <p:cNvGrpSpPr/>
          <p:nvPr/>
        </p:nvGrpSpPr>
        <p:grpSpPr>
          <a:xfrm>
            <a:off x="0" y="4857750"/>
            <a:ext cx="9144000" cy="285900"/>
            <a:chOff x="0" y="4857750"/>
            <a:chExt cx="9144000" cy="285900"/>
          </a:xfrm>
        </p:grpSpPr>
        <p:sp>
          <p:nvSpPr>
            <p:cNvPr id="105" name="Google Shape;105;p4"/>
            <p:cNvSpPr/>
            <p:nvPr/>
          </p:nvSpPr>
          <p:spPr>
            <a:xfrm>
              <a:off x="0" y="4857750"/>
              <a:ext cx="9144000" cy="2859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4"/>
            <p:cNvSpPr txBox="1"/>
            <p:nvPr/>
          </p:nvSpPr>
          <p:spPr>
            <a:xfrm>
              <a:off x="381000" y="485775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Financial Sentiment Analysis Agent | Group 4 | VNIT Nagpur</a:t>
              </a:r>
              <a:endParaRPr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86750" y="190500"/>
            <a:ext cx="476400" cy="47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5"/>
          <p:cNvGrpSpPr/>
          <p:nvPr/>
        </p:nvGrpSpPr>
        <p:grpSpPr>
          <a:xfrm>
            <a:off x="381000" y="381000"/>
            <a:ext cx="8382000" cy="619125"/>
            <a:chOff x="381000" y="381000"/>
            <a:chExt cx="8382000" cy="619125"/>
          </a:xfrm>
        </p:grpSpPr>
        <p:cxnSp>
          <p:nvCxnSpPr>
            <p:cNvPr id="113" name="Google Shape;113;p5"/>
            <p:cNvCxnSpPr/>
            <p:nvPr/>
          </p:nvCxnSpPr>
          <p:spPr>
            <a:xfrm>
              <a:off x="381000" y="1000125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4" name="Google Shape;114;p5"/>
            <p:cNvSpPr txBox="1"/>
            <p:nvPr/>
          </p:nvSpPr>
          <p:spPr>
            <a:xfrm>
              <a:off x="381000" y="38100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 b="1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Methodology &amp; Pipeline</a:t>
              </a:r>
              <a:endParaRPr sz="32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5" name="Google Shape;115;p5"/>
          <p:cNvSpPr txBox="1"/>
          <p:nvPr/>
        </p:nvSpPr>
        <p:spPr>
          <a:xfrm>
            <a:off x="381000" y="1095375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 four-stage pipeline was implemented to systematically compare zero-shot and fine-tuned transformer models for financial sentiment classification.</a:t>
            </a:r>
            <a:endParaRPr sz="16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5"/>
          <p:cNvGrpSpPr/>
          <p:nvPr/>
        </p:nvGrpSpPr>
        <p:grpSpPr>
          <a:xfrm>
            <a:off x="381000" y="1809750"/>
            <a:ext cx="1524000" cy="2667000"/>
            <a:chOff x="381000" y="1809750"/>
            <a:chExt cx="1524000" cy="2667000"/>
          </a:xfrm>
        </p:grpSpPr>
        <p:sp>
          <p:nvSpPr>
            <p:cNvPr id="117" name="Google Shape;117;p5"/>
            <p:cNvSpPr/>
            <p:nvPr/>
          </p:nvSpPr>
          <p:spPr>
            <a:xfrm>
              <a:off x="381000" y="1809750"/>
              <a:ext cx="1524000" cy="2667000"/>
            </a:xfrm>
            <a:prstGeom prst="roundRect">
              <a:avLst>
                <a:gd name="adj" fmla="val 625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5"/>
            <p:cNvSpPr txBox="1"/>
            <p:nvPr/>
          </p:nvSpPr>
          <p:spPr>
            <a:xfrm>
              <a:off x="381000" y="1905000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sz="24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5"/>
            <p:cNvSpPr txBox="1"/>
            <p:nvPr/>
          </p:nvSpPr>
          <p:spPr>
            <a:xfrm>
              <a:off x="476250" y="2381250"/>
              <a:ext cx="1333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Data Preparation</a:t>
              </a:r>
              <a:endParaRPr sz="14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p5"/>
          <p:cNvSpPr txBox="1"/>
          <p:nvPr/>
        </p:nvSpPr>
        <p:spPr>
          <a:xfrm>
            <a:off x="1905000" y="2905125"/>
            <a:ext cx="285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p5"/>
          <p:cNvGrpSpPr/>
          <p:nvPr/>
        </p:nvGrpSpPr>
        <p:grpSpPr>
          <a:xfrm>
            <a:off x="2190750" y="1809750"/>
            <a:ext cx="1524000" cy="2667000"/>
            <a:chOff x="2190750" y="1809750"/>
            <a:chExt cx="1524000" cy="2667000"/>
          </a:xfrm>
        </p:grpSpPr>
        <p:sp>
          <p:nvSpPr>
            <p:cNvPr id="122" name="Google Shape;122;p5"/>
            <p:cNvSpPr/>
            <p:nvPr/>
          </p:nvSpPr>
          <p:spPr>
            <a:xfrm>
              <a:off x="2190750" y="1809750"/>
              <a:ext cx="1524000" cy="2667000"/>
            </a:xfrm>
            <a:prstGeom prst="roundRect">
              <a:avLst>
                <a:gd name="adj" fmla="val 625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5"/>
            <p:cNvSpPr txBox="1"/>
            <p:nvPr/>
          </p:nvSpPr>
          <p:spPr>
            <a:xfrm>
              <a:off x="2190750" y="1905000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sz="24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5"/>
            <p:cNvSpPr txBox="1"/>
            <p:nvPr/>
          </p:nvSpPr>
          <p:spPr>
            <a:xfrm>
              <a:off x="2286000" y="2381250"/>
              <a:ext cx="1333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 b="1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Baseline Evaluation (BERT &amp; FinBERT zero-shot)</a:t>
              </a:r>
              <a:endParaRPr sz="13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5"/>
          <p:cNvSpPr txBox="1"/>
          <p:nvPr/>
        </p:nvSpPr>
        <p:spPr>
          <a:xfrm>
            <a:off x="3714750" y="2905125"/>
            <a:ext cx="285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" name="Google Shape;126;p5"/>
          <p:cNvGrpSpPr/>
          <p:nvPr/>
        </p:nvGrpSpPr>
        <p:grpSpPr>
          <a:xfrm>
            <a:off x="4000500" y="1809750"/>
            <a:ext cx="1524000" cy="2667000"/>
            <a:chOff x="4000500" y="1809750"/>
            <a:chExt cx="1524000" cy="2667000"/>
          </a:xfrm>
        </p:grpSpPr>
        <p:sp>
          <p:nvSpPr>
            <p:cNvPr id="127" name="Google Shape;127;p5"/>
            <p:cNvSpPr/>
            <p:nvPr/>
          </p:nvSpPr>
          <p:spPr>
            <a:xfrm>
              <a:off x="4000500" y="1809750"/>
              <a:ext cx="1524000" cy="2667000"/>
            </a:xfrm>
            <a:prstGeom prst="roundRect">
              <a:avLst>
                <a:gd name="adj" fmla="val 6250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5"/>
            <p:cNvSpPr txBox="1"/>
            <p:nvPr/>
          </p:nvSpPr>
          <p:spPr>
            <a:xfrm>
              <a:off x="4000500" y="1905000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sz="24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5"/>
            <p:cNvSpPr txBox="1"/>
            <p:nvPr/>
          </p:nvSpPr>
          <p:spPr>
            <a:xfrm>
              <a:off x="4095750" y="2381250"/>
              <a:ext cx="1333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Fine-Tuning BERT (weighted loss, cosine decay, early stopping)</a:t>
              </a:r>
              <a:endParaRPr sz="12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5"/>
          <p:cNvSpPr txBox="1"/>
          <p:nvPr/>
        </p:nvSpPr>
        <p:spPr>
          <a:xfrm>
            <a:off x="5524500" y="2905125"/>
            <a:ext cx="285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" name="Google Shape;131;p5"/>
          <p:cNvGrpSpPr/>
          <p:nvPr/>
        </p:nvGrpSpPr>
        <p:grpSpPr>
          <a:xfrm>
            <a:off x="5810250" y="1809750"/>
            <a:ext cx="1524000" cy="2667000"/>
            <a:chOff x="5810250" y="1809750"/>
            <a:chExt cx="1524000" cy="2667000"/>
          </a:xfrm>
        </p:grpSpPr>
        <p:sp>
          <p:nvSpPr>
            <p:cNvPr id="132" name="Google Shape;132;p5"/>
            <p:cNvSpPr/>
            <p:nvPr/>
          </p:nvSpPr>
          <p:spPr>
            <a:xfrm>
              <a:off x="5810250" y="1809750"/>
              <a:ext cx="1524000" cy="2667000"/>
            </a:xfrm>
            <a:prstGeom prst="roundRect">
              <a:avLst>
                <a:gd name="adj" fmla="val 6250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5"/>
            <p:cNvSpPr txBox="1"/>
            <p:nvPr/>
          </p:nvSpPr>
          <p:spPr>
            <a:xfrm>
              <a:off x="5810250" y="1905000"/>
              <a:ext cx="152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sz="24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5"/>
            <p:cNvSpPr txBox="1"/>
            <p:nvPr/>
          </p:nvSpPr>
          <p:spPr>
            <a:xfrm>
              <a:off x="5905500" y="2381250"/>
              <a:ext cx="1333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 b="1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Three-Way Evaluation (Training Dataset + Collected Data)</a:t>
              </a:r>
              <a:endParaRPr sz="12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5"/>
          <p:cNvSpPr txBox="1"/>
          <p:nvPr/>
        </p:nvSpPr>
        <p:spPr>
          <a:xfrm>
            <a:off x="7334250" y="2905125"/>
            <a:ext cx="285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000">
              <a:solidFill>
                <a:srgbClr val="4472C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" name="Google Shape;136;p5"/>
          <p:cNvGrpSpPr/>
          <p:nvPr/>
        </p:nvGrpSpPr>
        <p:grpSpPr>
          <a:xfrm>
            <a:off x="7620000" y="1809750"/>
            <a:ext cx="1333500" cy="2667000"/>
            <a:chOff x="7620000" y="1809750"/>
            <a:chExt cx="1333500" cy="2667000"/>
          </a:xfrm>
        </p:grpSpPr>
        <p:sp>
          <p:nvSpPr>
            <p:cNvPr id="137" name="Google Shape;137;p5"/>
            <p:cNvSpPr/>
            <p:nvPr/>
          </p:nvSpPr>
          <p:spPr>
            <a:xfrm>
              <a:off x="7620000" y="1809750"/>
              <a:ext cx="1333500" cy="2667000"/>
            </a:xfrm>
            <a:prstGeom prst="roundRect">
              <a:avLst>
                <a:gd name="adj" fmla="val 7142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5"/>
            <p:cNvSpPr txBox="1"/>
            <p:nvPr/>
          </p:nvSpPr>
          <p:spPr>
            <a:xfrm>
              <a:off x="7620000" y="1905000"/>
              <a:ext cx="133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400" b="1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05</a:t>
              </a:r>
              <a:endParaRPr sz="2400" b="1">
                <a:solidFill>
                  <a:srgbClr val="4472C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5"/>
            <p:cNvSpPr txBox="1"/>
            <p:nvPr/>
          </p:nvSpPr>
          <p:spPr>
            <a:xfrm>
              <a:off x="7715250" y="2381250"/>
              <a:ext cx="11430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Analysis &amp; Reporting</a:t>
              </a:r>
              <a:endParaRPr sz="14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5"/>
          <p:cNvGrpSpPr/>
          <p:nvPr/>
        </p:nvGrpSpPr>
        <p:grpSpPr>
          <a:xfrm>
            <a:off x="0" y="4857750"/>
            <a:ext cx="9144000" cy="285900"/>
            <a:chOff x="0" y="4857750"/>
            <a:chExt cx="9144000" cy="285900"/>
          </a:xfrm>
        </p:grpSpPr>
        <p:sp>
          <p:nvSpPr>
            <p:cNvPr id="141" name="Google Shape;141;p5"/>
            <p:cNvSpPr/>
            <p:nvPr/>
          </p:nvSpPr>
          <p:spPr>
            <a:xfrm>
              <a:off x="0" y="4857750"/>
              <a:ext cx="9144000" cy="2859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5"/>
            <p:cNvSpPr txBox="1"/>
            <p:nvPr/>
          </p:nvSpPr>
          <p:spPr>
            <a:xfrm>
              <a:off x="381000" y="485775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Financial Sentiment Analysis Agent | Group 4 | VNIT Nagpur</a:t>
              </a:r>
              <a:endParaRPr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86750" y="190500"/>
            <a:ext cx="476400" cy="4764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pic>
      <p:grpSp>
        <p:nvGrpSpPr>
          <p:cNvPr id="148" name="Google Shape;148;p6"/>
          <p:cNvGrpSpPr/>
          <p:nvPr/>
        </p:nvGrpSpPr>
        <p:grpSpPr>
          <a:xfrm>
            <a:off x="381000" y="381000"/>
            <a:ext cx="7620000" cy="619125"/>
            <a:chOff x="381000" y="381000"/>
            <a:chExt cx="7620000" cy="619125"/>
          </a:xfrm>
        </p:grpSpPr>
        <p:cxnSp>
          <p:nvCxnSpPr>
            <p:cNvPr id="149" name="Google Shape;149;p6"/>
            <p:cNvCxnSpPr/>
            <p:nvPr/>
          </p:nvCxnSpPr>
          <p:spPr>
            <a:xfrm>
              <a:off x="381000" y="100012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50" name="Google Shape;150;p6"/>
            <p:cNvSpPr txBox="1"/>
            <p:nvPr/>
          </p:nvSpPr>
          <p:spPr>
            <a:xfrm>
              <a:off x="381000" y="381000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 b="1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Models &amp; Training Configuration</a:t>
              </a:r>
              <a:endParaRPr sz="32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6"/>
          <p:cNvGrpSpPr/>
          <p:nvPr/>
        </p:nvGrpSpPr>
        <p:grpSpPr>
          <a:xfrm>
            <a:off x="381000" y="1190625"/>
            <a:ext cx="8382000" cy="1714500"/>
            <a:chOff x="381000" y="1190625"/>
            <a:chExt cx="8382000" cy="1714500"/>
          </a:xfrm>
        </p:grpSpPr>
        <p:sp>
          <p:nvSpPr>
            <p:cNvPr id="152" name="Google Shape;152;p6"/>
            <p:cNvSpPr/>
            <p:nvPr/>
          </p:nvSpPr>
          <p:spPr>
            <a:xfrm>
              <a:off x="381000" y="1190625"/>
              <a:ext cx="8382000" cy="1714500"/>
            </a:xfrm>
            <a:prstGeom prst="roundRect">
              <a:avLst>
                <a:gd name="adj" fmla="val 5555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6"/>
            <p:cNvSpPr txBox="1"/>
            <p:nvPr/>
          </p:nvSpPr>
          <p:spPr>
            <a:xfrm>
              <a:off x="571500" y="1285875"/>
              <a:ext cx="8001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65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Models Compared</a:t>
              </a:r>
              <a:endParaRPr sz="1665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310833" algn="l" rtl="0">
                <a:spcBef>
                  <a:spcPts val="900"/>
                </a:spcBef>
                <a:spcAft>
                  <a:spcPts val="0"/>
                </a:spcAft>
                <a:buClr>
                  <a:srgbClr val="1F3864"/>
                </a:buClr>
                <a:buSzPts val="1295"/>
                <a:buFont typeface="Calibri"/>
                <a:buChar char="●"/>
              </a:pPr>
              <a:r>
                <a:rPr lang="en-GB" sz="1295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BERT (Zero-shot):</a:t>
              </a:r>
              <a:r>
                <a:rPr lang="en-GB" sz="1295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GB" sz="1295" dirty="0" err="1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bert</a:t>
              </a:r>
              <a:r>
                <a:rPr lang="en-GB" sz="1295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-base-uncased— no training; lower-bound baseline</a:t>
              </a:r>
              <a:endParaRPr sz="1295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310833" algn="l" rtl="0">
                <a:spcBef>
                  <a:spcPts val="600"/>
                </a:spcBef>
                <a:spcAft>
                  <a:spcPts val="0"/>
                </a:spcAft>
                <a:buClr>
                  <a:srgbClr val="1F3864"/>
                </a:buClr>
                <a:buSzPts val="1295"/>
                <a:buFont typeface="Calibri"/>
                <a:buChar char="●"/>
              </a:pPr>
              <a:r>
                <a:rPr lang="en-GB" sz="1295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BERT (Fine-tuned):</a:t>
              </a:r>
              <a:r>
                <a:rPr lang="en-GB" sz="1295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GB" sz="1295" dirty="0" err="1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bert</a:t>
              </a:r>
              <a:r>
                <a:rPr lang="en-GB" sz="1295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-base-uncased + classification head; fine-tuned on </a:t>
              </a:r>
              <a:r>
                <a:rPr lang="en-GB" sz="1295" dirty="0" err="1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financial_sentiment.csv</a:t>
              </a:r>
              <a:r>
                <a:rPr lang="en-GB" sz="1295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; class-weighted cross-entropy loss</a:t>
              </a:r>
              <a:endParaRPr sz="1295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310833" algn="l" rtl="0">
                <a:spcBef>
                  <a:spcPts val="600"/>
                </a:spcBef>
                <a:spcAft>
                  <a:spcPts val="0"/>
                </a:spcAft>
                <a:buClr>
                  <a:srgbClr val="1F3864"/>
                </a:buClr>
                <a:buSzPts val="1295"/>
                <a:buFont typeface="Calibri"/>
                <a:buChar char="●"/>
              </a:pPr>
              <a:r>
                <a:rPr lang="en-GB" sz="1295" b="1" dirty="0" err="1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FinBERT</a:t>
              </a:r>
              <a:r>
                <a:rPr lang="en-GB" sz="1295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 (Zero-shot):</a:t>
              </a:r>
              <a:r>
                <a:rPr lang="en-GB" sz="1295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GB" sz="1295" dirty="0" err="1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ProsusAI</a:t>
              </a:r>
              <a:r>
                <a:rPr lang="en-GB" sz="1295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/</a:t>
              </a:r>
              <a:r>
                <a:rPr lang="en-GB" sz="1295" dirty="0" err="1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finbert</a:t>
              </a:r>
              <a:r>
                <a:rPr lang="en-GB" sz="1295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; finance-domain pre-trained; zero-shot</a:t>
              </a:r>
              <a:endParaRPr sz="1295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6"/>
          <p:cNvGrpSpPr/>
          <p:nvPr/>
        </p:nvGrpSpPr>
        <p:grpSpPr>
          <a:xfrm>
            <a:off x="381000" y="3048000"/>
            <a:ext cx="8382000" cy="1714500"/>
            <a:chOff x="381000" y="3048000"/>
            <a:chExt cx="8382000" cy="1714500"/>
          </a:xfrm>
        </p:grpSpPr>
        <p:sp>
          <p:nvSpPr>
            <p:cNvPr id="155" name="Google Shape;155;p6"/>
            <p:cNvSpPr/>
            <p:nvPr/>
          </p:nvSpPr>
          <p:spPr>
            <a:xfrm>
              <a:off x="381000" y="3048000"/>
              <a:ext cx="8382000" cy="1714500"/>
            </a:xfrm>
            <a:prstGeom prst="roundRect">
              <a:avLst>
                <a:gd name="adj" fmla="val 5555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6"/>
            <p:cNvSpPr txBox="1"/>
            <p:nvPr/>
          </p:nvSpPr>
          <p:spPr>
            <a:xfrm>
              <a:off x="571500" y="3143250"/>
              <a:ext cx="8001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 b="1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Key Training Hyperparameters</a:t>
              </a:r>
              <a:endParaRPr sz="18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GB" sz="1400" b="1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Optimization:</a:t>
              </a:r>
              <a:r>
                <a:rPr lang="en-GB" sz="14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Learning Rate: 1e-5 | Epochs: 10 max (early stopping) | Batch Size: 8 (effective 16)</a:t>
              </a:r>
              <a:endParaRPr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1400" b="1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Architecture:</a:t>
              </a:r>
              <a:r>
                <a:rPr lang="en-GB" sz="14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LR Scheduler: Cosine Decay (10% warmup) | Weight Decay: 0.01 | Max Seq: 128</a:t>
              </a:r>
              <a:endParaRPr sz="14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GB" sz="1400" b="1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Best Checkpoint: </a:t>
              </a:r>
              <a:r>
                <a:rPr lang="en-GB" sz="1400" b="0">
                  <a:solidFill>
                    <a:srgbClr val="059669"/>
                  </a:solidFill>
                  <a:latin typeface="Calibri"/>
                  <a:ea typeface="Calibri"/>
                  <a:cs typeface="Calibri"/>
                  <a:sym typeface="Calibri"/>
                </a:rPr>
                <a:t>Epoch 8 (Step 3440) — Val Acc: 82.15%, Val F1 Weighted: 82.17%</a:t>
              </a:r>
              <a:endParaRPr sz="14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6"/>
          <p:cNvGrpSpPr/>
          <p:nvPr/>
        </p:nvGrpSpPr>
        <p:grpSpPr>
          <a:xfrm>
            <a:off x="0" y="4857750"/>
            <a:ext cx="9144000" cy="285900"/>
            <a:chOff x="0" y="4857750"/>
            <a:chExt cx="9144000" cy="285900"/>
          </a:xfrm>
        </p:grpSpPr>
        <p:sp>
          <p:nvSpPr>
            <p:cNvPr id="158" name="Google Shape;158;p6"/>
            <p:cNvSpPr/>
            <p:nvPr/>
          </p:nvSpPr>
          <p:spPr>
            <a:xfrm>
              <a:off x="0" y="4857750"/>
              <a:ext cx="9144000" cy="2859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6"/>
            <p:cNvSpPr txBox="1"/>
            <p:nvPr/>
          </p:nvSpPr>
          <p:spPr>
            <a:xfrm>
              <a:off x="381000" y="4857750"/>
              <a:ext cx="8382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Financial Sentiment Analysis Agent | Group 4 | VNIT Nagpur</a:t>
              </a:r>
              <a:endParaRPr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86750" y="190500"/>
            <a:ext cx="476400" cy="4764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65" name="Google Shape;165;p7"/>
          <p:cNvGrpSpPr/>
          <p:nvPr/>
        </p:nvGrpSpPr>
        <p:grpSpPr>
          <a:xfrm>
            <a:off x="381000" y="381000"/>
            <a:ext cx="7620000" cy="619125"/>
            <a:chOff x="381000" y="381000"/>
            <a:chExt cx="7620000" cy="619125"/>
          </a:xfrm>
        </p:grpSpPr>
        <p:cxnSp>
          <p:nvCxnSpPr>
            <p:cNvPr id="166" name="Google Shape;166;p7"/>
            <p:cNvCxnSpPr/>
            <p:nvPr/>
          </p:nvCxnSpPr>
          <p:spPr>
            <a:xfrm>
              <a:off x="381000" y="100012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7" name="Google Shape;167;p7"/>
            <p:cNvSpPr txBox="1"/>
            <p:nvPr/>
          </p:nvSpPr>
          <p:spPr>
            <a:xfrm>
              <a:off x="381000" y="381000"/>
              <a:ext cx="7620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200" b="1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Training Dynamics &amp; Insights</a:t>
              </a:r>
              <a:endParaRPr sz="3200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7"/>
          <p:cNvGrpSpPr/>
          <p:nvPr/>
        </p:nvGrpSpPr>
        <p:grpSpPr>
          <a:xfrm>
            <a:off x="381000" y="1095375"/>
            <a:ext cx="8382000" cy="666900"/>
            <a:chOff x="381000" y="1095375"/>
            <a:chExt cx="8382000" cy="666900"/>
          </a:xfrm>
        </p:grpSpPr>
        <p:sp>
          <p:nvSpPr>
            <p:cNvPr id="169" name="Google Shape;169;p7"/>
            <p:cNvSpPr/>
            <p:nvPr/>
          </p:nvSpPr>
          <p:spPr>
            <a:xfrm>
              <a:off x="381000" y="1095375"/>
              <a:ext cx="8382000" cy="666900"/>
            </a:xfrm>
            <a:prstGeom prst="roundRect">
              <a:avLst>
                <a:gd name="adj" fmla="val 14285"/>
              </a:avLst>
            </a:prstGeom>
            <a:solidFill>
              <a:srgbClr val="EFF6FF"/>
            </a:solidFill>
            <a:ln w="9525" cap="flat" cmpd="sng">
              <a:solidFill>
                <a:srgbClr val="BFDBF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7"/>
            <p:cNvSpPr txBox="1"/>
            <p:nvPr/>
          </p:nvSpPr>
          <p:spPr>
            <a:xfrm>
              <a:off x="571500" y="1190625"/>
              <a:ext cx="80010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 b="1">
                  <a:solidFill>
                    <a:srgbClr val="4472C4"/>
                  </a:solidFill>
                  <a:latin typeface="Calibri"/>
                  <a:ea typeface="Calibri"/>
                  <a:cs typeface="Calibri"/>
                  <a:sym typeface="Calibri"/>
                </a:rPr>
                <a:t>Best Checkpoint:</a:t>
              </a:r>
              <a:r>
                <a:rPr lang="en-GB" sz="140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 Epoch 8 (Step 3440) — </a:t>
              </a:r>
              <a:r>
                <a:rPr lang="en-GB" sz="1400" b="1">
                  <a:solidFill>
                    <a:srgbClr val="059669"/>
                  </a:solidFill>
                  <a:latin typeface="Calibri"/>
                  <a:ea typeface="Calibri"/>
                  <a:cs typeface="Calibri"/>
                  <a:sym typeface="Calibri"/>
                </a:rPr>
                <a:t>Val Accuracy: 82.15%, Val F1 Weighted: 82.17%</a:t>
              </a:r>
              <a:endParaRPr sz="14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7"/>
          <p:cNvGrpSpPr/>
          <p:nvPr/>
        </p:nvGrpSpPr>
        <p:grpSpPr>
          <a:xfrm>
            <a:off x="160450" y="3952874"/>
            <a:ext cx="8126300" cy="809625"/>
            <a:chOff x="4667250" y="1905000"/>
            <a:chExt cx="4095900" cy="1428900"/>
          </a:xfrm>
        </p:grpSpPr>
        <p:sp>
          <p:nvSpPr>
            <p:cNvPr id="175" name="Google Shape;175;p7"/>
            <p:cNvSpPr/>
            <p:nvPr/>
          </p:nvSpPr>
          <p:spPr>
            <a:xfrm>
              <a:off x="4667250" y="1905000"/>
              <a:ext cx="4095900" cy="1428900"/>
            </a:xfrm>
            <a:prstGeom prst="roundRect">
              <a:avLst>
                <a:gd name="adj" fmla="val 6666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7"/>
            <p:cNvSpPr txBox="1"/>
            <p:nvPr/>
          </p:nvSpPr>
          <p:spPr>
            <a:xfrm>
              <a:off x="4857751" y="2000249"/>
              <a:ext cx="3714900" cy="133365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5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Strategy &amp; Improvements</a:t>
              </a:r>
              <a:endParaRPr sz="15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311150" algn="l" rtl="0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Font typeface="Calibri"/>
                <a:buChar char="●"/>
              </a:pPr>
              <a:r>
                <a:rPr lang="en-GB" sz="1300" dirty="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Early stopping (patience=3) monitored Val F1 Weighted; prevented overfitting</a:t>
              </a:r>
              <a:endParaRPr sz="130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7"/>
          <p:cNvGrpSpPr/>
          <p:nvPr/>
        </p:nvGrpSpPr>
        <p:grpSpPr>
          <a:xfrm>
            <a:off x="0" y="4857750"/>
            <a:ext cx="9144000" cy="285900"/>
            <a:chOff x="0" y="4857750"/>
            <a:chExt cx="9144000" cy="285900"/>
          </a:xfrm>
        </p:grpSpPr>
        <p:sp>
          <p:nvSpPr>
            <p:cNvPr id="182" name="Google Shape;182;p7"/>
            <p:cNvSpPr/>
            <p:nvPr/>
          </p:nvSpPr>
          <p:spPr>
            <a:xfrm>
              <a:off x="0" y="4857750"/>
              <a:ext cx="9144000" cy="2859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7"/>
            <p:cNvSpPr txBox="1"/>
            <p:nvPr/>
          </p:nvSpPr>
          <p:spPr>
            <a:xfrm>
              <a:off x="381000" y="4857750"/>
              <a:ext cx="8382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Financial Sentiment Analysis Agent | Group 4 | VNIT Nagpur</a:t>
              </a:r>
              <a:endParaRPr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E5EE18E-A8A2-1A75-2C87-5B8C2582C2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005522"/>
            <a:ext cx="3676650" cy="18092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972CC8-428C-0765-E57D-015719855D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8300" y="1946611"/>
            <a:ext cx="3676650" cy="19586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"/>
          <p:cNvSpPr/>
          <p:nvPr/>
        </p:nvSpPr>
        <p:spPr>
          <a:xfrm>
            <a:off x="-62120" y="7542806"/>
            <a:ext cx="9144000" cy="16459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89" name="Google Shape;189;p8"/>
          <p:cNvGraphicFramePr/>
          <p:nvPr>
            <p:extLst>
              <p:ext uri="{D42A27DB-BD31-4B8C-83A1-F6EECF244321}">
                <p14:modId xmlns:p14="http://schemas.microsoft.com/office/powerpoint/2010/main" val="3099599724"/>
              </p:ext>
            </p:extLst>
          </p:nvPr>
        </p:nvGraphicFramePr>
        <p:xfrm>
          <a:off x="4136571" y="2001683"/>
          <a:ext cx="4881448" cy="2916790"/>
        </p:xfrm>
        <a:graphic>
          <a:graphicData uri="http://schemas.openxmlformats.org/drawingml/2006/table">
            <a:tbl>
              <a:tblPr bandRow="1">
                <a:noFill/>
                <a:tableStyleId>{1EC0D21F-37B3-43F9-A40F-F55C3A6CDC8F}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0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34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GB" sz="1600" u="none" strike="noStrike" cap="none"/>
                        <a:t>Model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GB" sz="1600" u="none" strike="noStrike" cap="none" dirty="0"/>
                        <a:t>Accuracy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GB" sz="1600" u="none" strike="noStrike" cap="none"/>
                        <a:t>F1 Macro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GB" sz="1600" u="none" strike="noStrike" cap="none"/>
                        <a:t>F1 Weighted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2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GB" sz="1600" u="none" strike="noStrike" cap="none" dirty="0"/>
                        <a:t>BERT (Zero-shot)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GB" sz="1600" u="none" strike="noStrike" cap="none" dirty="0"/>
                        <a:t>0.274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GB" sz="1600" u="none" strike="noStrike" cap="none"/>
                        <a:t>0.237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GB" sz="1600" u="none" strike="noStrike" cap="none"/>
                        <a:t>0.144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92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GB" sz="1600" u="none" strike="noStrike" cap="none"/>
                        <a:t>BERT (Fine-tuned)</a:t>
                      </a:r>
                      <a:endParaRPr sz="16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600"/>
                        <a:buFont typeface="Calibri"/>
                        <a:buNone/>
                      </a:pPr>
                      <a:r>
                        <a:rPr lang="en-GB" sz="1600" u="none" strike="noStrike" cap="none" dirty="0">
                          <a:solidFill>
                            <a:schemeClr val="accent6"/>
                          </a:solidFill>
                        </a:rPr>
                        <a:t>0.958</a:t>
                      </a:r>
                      <a:endParaRPr sz="1600" u="none" strike="noStrike" cap="none" dirty="0">
                        <a:solidFill>
                          <a:schemeClr val="accent6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600"/>
                        <a:buFont typeface="Calibri"/>
                        <a:buNone/>
                      </a:pPr>
                      <a:r>
                        <a:rPr lang="en-GB" sz="1600" u="none" strike="noStrike" cap="none" dirty="0">
                          <a:solidFill>
                            <a:schemeClr val="accent6"/>
                          </a:solidFill>
                        </a:rPr>
                        <a:t>0.949</a:t>
                      </a:r>
                      <a:endParaRPr sz="1600" u="none" strike="noStrike" cap="none" dirty="0">
                        <a:solidFill>
                          <a:schemeClr val="accent6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600"/>
                        <a:buFont typeface="Calibri"/>
                        <a:buNone/>
                      </a:pPr>
                      <a:r>
                        <a:rPr lang="en-GB" sz="1600" u="none" strike="noStrike" cap="none" dirty="0">
                          <a:solidFill>
                            <a:schemeClr val="accent6"/>
                          </a:solidFill>
                        </a:rPr>
                        <a:t>0.958</a:t>
                      </a:r>
                      <a:endParaRPr sz="1600" u="none" strike="noStrike" cap="none" dirty="0">
                        <a:solidFill>
                          <a:schemeClr val="accent6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922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Calibri"/>
                        <a:buNone/>
                      </a:pPr>
                      <a:r>
                        <a:rPr lang="en-GB" sz="1600" u="none" strike="noStrike" cap="none" dirty="0" err="1"/>
                        <a:t>FinBERT</a:t>
                      </a:r>
                      <a:r>
                        <a:rPr lang="en-GB" sz="1600" u="none" strike="noStrike" cap="none" dirty="0"/>
                        <a:t> (Zero-shot)</a:t>
                      </a:r>
                      <a:endParaRPr sz="16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600"/>
                        <a:buFont typeface="Calibri"/>
                        <a:buNone/>
                      </a:pPr>
                      <a:r>
                        <a:rPr lang="en-GB" sz="1600" u="none" strike="noStrike" cap="none" dirty="0">
                          <a:solidFill>
                            <a:schemeClr val="tx1"/>
                          </a:solidFill>
                        </a:rPr>
                        <a:t>0.976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600"/>
                        <a:buFont typeface="Calibri"/>
                        <a:buNone/>
                      </a:pPr>
                      <a:r>
                        <a:rPr lang="en-GB" sz="1600" u="none" strike="noStrike" cap="none" dirty="0">
                          <a:solidFill>
                            <a:schemeClr val="tx1"/>
                          </a:solidFill>
                        </a:rPr>
                        <a:t>0.965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600"/>
                        <a:buFont typeface="Calibri"/>
                        <a:buNone/>
                      </a:pPr>
                      <a:r>
                        <a:rPr lang="en-GB" sz="1600" u="none" strike="noStrike" cap="none" dirty="0">
                          <a:solidFill>
                            <a:schemeClr val="tx1"/>
                          </a:solidFill>
                        </a:rPr>
                        <a:t>0.976</a:t>
                      </a:r>
                      <a:endParaRPr sz="16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1" name="Google Shape;191;p8"/>
          <p:cNvSpPr txBox="1"/>
          <p:nvPr/>
        </p:nvSpPr>
        <p:spPr>
          <a:xfrm>
            <a:off x="321603" y="523729"/>
            <a:ext cx="9101136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FinBERT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(97.6% </a:t>
            </a:r>
            <a:r>
              <a:rPr lang="en-GB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marginally leads Fine-tuned BERT (95.8%) — both far exceed BERT zero-shot (27.4%)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Fine-tuned BERT: strong across all classes (Pos F1=0.92, Neg F1=0.95, Neu F1=0.97)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" name="Google Shape;192;p8"/>
          <p:cNvGrpSpPr/>
          <p:nvPr/>
        </p:nvGrpSpPr>
        <p:grpSpPr>
          <a:xfrm>
            <a:off x="435213" y="5"/>
            <a:ext cx="7268718" cy="590583"/>
            <a:chOff x="381000" y="381000"/>
            <a:chExt cx="7620000" cy="619125"/>
          </a:xfrm>
        </p:grpSpPr>
        <p:cxnSp>
          <p:nvCxnSpPr>
            <p:cNvPr id="193" name="Google Shape;193;p8"/>
            <p:cNvCxnSpPr/>
            <p:nvPr/>
          </p:nvCxnSpPr>
          <p:spPr>
            <a:xfrm>
              <a:off x="381000" y="1000125"/>
              <a:ext cx="7620000" cy="0"/>
            </a:xfrm>
            <a:prstGeom prst="straightConnector1">
              <a:avLst/>
            </a:prstGeom>
            <a:solidFill>
              <a:srgbClr val="FFFFFF"/>
            </a:solidFill>
            <a:ln w="18175" cap="flat" cmpd="sng">
              <a:solidFill>
                <a:srgbClr val="4472C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4" name="Google Shape;194;p8"/>
            <p:cNvSpPr txBox="1"/>
            <p:nvPr/>
          </p:nvSpPr>
          <p:spPr>
            <a:xfrm>
              <a:off x="381000" y="381000"/>
              <a:ext cx="7620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3052" b="1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rPr>
                <a:t>Results and Demo</a:t>
              </a:r>
              <a:endParaRPr sz="3052" b="1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83E642-8842-9F39-CEB8-A9EAE51F3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599122"/>
              </p:ext>
            </p:extLst>
          </p:nvPr>
        </p:nvGraphicFramePr>
        <p:xfrm>
          <a:off x="125982" y="2001684"/>
          <a:ext cx="3629589" cy="304803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09863">
                  <a:extLst>
                    <a:ext uri="{9D8B030D-6E8A-4147-A177-3AD203B41FA5}">
                      <a16:colId xmlns:a16="http://schemas.microsoft.com/office/drawing/2014/main" val="3651389908"/>
                    </a:ext>
                  </a:extLst>
                </a:gridCol>
                <a:gridCol w="1209863">
                  <a:extLst>
                    <a:ext uri="{9D8B030D-6E8A-4147-A177-3AD203B41FA5}">
                      <a16:colId xmlns:a16="http://schemas.microsoft.com/office/drawing/2014/main" val="303654146"/>
                    </a:ext>
                  </a:extLst>
                </a:gridCol>
                <a:gridCol w="1209863">
                  <a:extLst>
                    <a:ext uri="{9D8B030D-6E8A-4147-A177-3AD203B41FA5}">
                      <a16:colId xmlns:a16="http://schemas.microsoft.com/office/drawing/2014/main" val="2132920989"/>
                    </a:ext>
                  </a:extLst>
                </a:gridCol>
              </a:tblGrid>
              <a:tr h="1135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Metric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solidFill>
                            <a:srgbClr val="FF0000"/>
                          </a:solidFill>
                        </a:rPr>
                        <a:t>Fine-tuned v1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Fine-tuned v2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147417"/>
                  </a:ext>
                </a:extLst>
              </a:tr>
              <a:tr h="777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Accuracy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0.33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0.38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367335"/>
                  </a:ext>
                </a:extLst>
              </a:tr>
              <a:tr h="113530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/>
                        <a:t>Weighted F1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/>
                        <a:t>0.32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dirty="0">
                          <a:solidFill>
                            <a:schemeClr val="accent6"/>
                          </a:solidFill>
                        </a:rPr>
                        <a:t>0.37</a:t>
                      </a:r>
                      <a:endParaRPr lang="en-US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113720"/>
                  </a:ext>
                </a:extLst>
              </a:tr>
            </a:tbl>
          </a:graphicData>
        </a:graphic>
      </p:graphicFrame>
      <p:sp>
        <p:nvSpPr>
          <p:cNvPr id="4" name="Google Shape;191;p8">
            <a:extLst>
              <a:ext uri="{FF2B5EF4-FFF2-40B4-BE49-F238E27FC236}">
                <a16:creationId xmlns:a16="http://schemas.microsoft.com/office/drawing/2014/main" id="{DE1501A5-AA9E-790C-A989-847D86909C5A}"/>
              </a:ext>
            </a:extLst>
          </p:cNvPr>
          <p:cNvSpPr txBox="1"/>
          <p:nvPr/>
        </p:nvSpPr>
        <p:spPr>
          <a:xfrm>
            <a:off x="125982" y="1585236"/>
            <a:ext cx="910113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During First Evaluation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91;p8">
            <a:extLst>
              <a:ext uri="{FF2B5EF4-FFF2-40B4-BE49-F238E27FC236}">
                <a16:creationId xmlns:a16="http://schemas.microsoft.com/office/drawing/2014/main" id="{CAB3E147-AF89-98E0-C7A0-1FD812217379}"/>
              </a:ext>
            </a:extLst>
          </p:cNvPr>
          <p:cNvSpPr txBox="1"/>
          <p:nvPr/>
        </p:nvSpPr>
        <p:spPr>
          <a:xfrm>
            <a:off x="4800362" y="1575091"/>
            <a:ext cx="9101136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Today: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>
            <a:spLocks noGrp="1"/>
          </p:cNvSpPr>
          <p:nvPr>
            <p:ph type="ctrTitle"/>
          </p:nvPr>
        </p:nvSpPr>
        <p:spPr>
          <a:xfrm>
            <a:off x="555171" y="574562"/>
            <a:ext cx="6980464" cy="203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2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Collected Data</a:t>
            </a:r>
            <a:endParaRPr sz="3052" b="1" dirty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-62120" y="7542806"/>
            <a:ext cx="9144000" cy="16459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EC2BC5-BBF7-69AF-696D-418B293D2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71" y="1197953"/>
            <a:ext cx="7772400" cy="30039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CE17BCAC-1A79-C670-1E6B-40A9CB1E3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>
            <a:extLst>
              <a:ext uri="{FF2B5EF4-FFF2-40B4-BE49-F238E27FC236}">
                <a16:creationId xmlns:a16="http://schemas.microsoft.com/office/drawing/2014/main" id="{555E60C0-DE77-618C-CF5C-E9CF958B390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22071" y="709375"/>
            <a:ext cx="6980464" cy="203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2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Results — Collected Unseen Data (1,000 balanced samples)</a:t>
            </a:r>
            <a:endParaRPr sz="3052" b="1" dirty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>
            <a:extLst>
              <a:ext uri="{FF2B5EF4-FFF2-40B4-BE49-F238E27FC236}">
                <a16:creationId xmlns:a16="http://schemas.microsoft.com/office/drawing/2014/main" id="{05B73365-1A72-0E2E-9AB5-8AD04B94319D}"/>
              </a:ext>
            </a:extLst>
          </p:cNvPr>
          <p:cNvSpPr/>
          <p:nvPr/>
        </p:nvSpPr>
        <p:spPr>
          <a:xfrm>
            <a:off x="-62120" y="7542806"/>
            <a:ext cx="9144000" cy="16459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01" name="Google Shape;201;p9">
            <a:extLst>
              <a:ext uri="{FF2B5EF4-FFF2-40B4-BE49-F238E27FC236}">
                <a16:creationId xmlns:a16="http://schemas.microsoft.com/office/drawing/2014/main" id="{0F07E86B-B6A5-0FB0-5F31-E131B36B5B1A}"/>
              </a:ext>
            </a:extLst>
          </p:cNvPr>
          <p:cNvGraphicFramePr/>
          <p:nvPr/>
        </p:nvGraphicFramePr>
        <p:xfrm>
          <a:off x="4872171" y="2577913"/>
          <a:ext cx="4109600" cy="2197220"/>
        </p:xfrm>
        <a:graphic>
          <a:graphicData uri="http://schemas.openxmlformats.org/drawingml/2006/table">
            <a:tbl>
              <a:tblPr bandRow="1">
                <a:noFill/>
                <a:tableStyleId>{1EC0D21F-37B3-43F9-A40F-F55C3A6CDC8F}</a:tableStyleId>
              </a:tblPr>
              <a:tblGrid>
                <a:gridCol w="102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/>
                        <a:t>Model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/>
                        <a:t>BERT (Fine-tuned)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/>
                        <a:t>F1 Macro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/>
                        <a:t>F1 Weighted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4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 dirty="0"/>
                        <a:t>Accuracy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 dirty="0">
                          <a:solidFill>
                            <a:schemeClr val="accent6"/>
                          </a:solidFill>
                        </a:rPr>
                        <a:t>0.729</a:t>
                      </a:r>
                      <a:endParaRPr dirty="0">
                        <a:solidFill>
                          <a:schemeClr val="accent6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 dirty="0">
                          <a:solidFill>
                            <a:schemeClr val="accent6"/>
                          </a:solidFill>
                        </a:rPr>
                        <a:t>0.716</a:t>
                      </a:r>
                      <a:endParaRPr dirty="0">
                        <a:solidFill>
                          <a:schemeClr val="accent6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 dirty="0">
                          <a:solidFill>
                            <a:schemeClr val="accent6"/>
                          </a:solidFill>
                        </a:rPr>
                        <a:t>0.717</a:t>
                      </a:r>
                      <a:endParaRPr dirty="0">
                        <a:solidFill>
                          <a:schemeClr val="accent6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/>
                        <a:t>FinBERT (Zero-shot)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 dirty="0">
                          <a:solidFill>
                            <a:schemeClr val="tx1"/>
                          </a:solidFill>
                        </a:rPr>
                        <a:t>0.594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 dirty="0">
                          <a:solidFill>
                            <a:schemeClr val="tx1"/>
                          </a:solidFill>
                        </a:rPr>
                        <a:t>0.571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 dirty="0">
                          <a:solidFill>
                            <a:schemeClr val="tx1"/>
                          </a:solidFill>
                        </a:rPr>
                        <a:t>0.571</a:t>
                      </a:r>
                      <a:endParaRPr sz="1800" u="none" strike="noStrike" cap="none"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2" name="Google Shape;202;p9">
            <a:extLst>
              <a:ext uri="{FF2B5EF4-FFF2-40B4-BE49-F238E27FC236}">
                <a16:creationId xmlns:a16="http://schemas.microsoft.com/office/drawing/2014/main" id="{E370F803-AC22-DAC8-13D7-CD5561CC9CEA}"/>
              </a:ext>
            </a:extLst>
          </p:cNvPr>
          <p:cNvGraphicFramePr/>
          <p:nvPr/>
        </p:nvGraphicFramePr>
        <p:xfrm>
          <a:off x="162185" y="2577913"/>
          <a:ext cx="4446000" cy="2179360"/>
        </p:xfrm>
        <a:graphic>
          <a:graphicData uri="http://schemas.openxmlformats.org/drawingml/2006/table">
            <a:tbl>
              <a:tblPr bandRow="1">
                <a:noFill/>
                <a:tableStyleId>{1EC0D21F-37B3-43F9-A40F-F55C3A6CDC8F}</a:tableStyleId>
              </a:tblPr>
              <a:tblGrid>
                <a:gridCol w="111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1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/>
                        <a:t>Class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/>
                        <a:t>BERT Zero-shot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 dirty="0">
                          <a:solidFill>
                            <a:schemeClr val="accent6"/>
                          </a:solidFill>
                        </a:rPr>
                        <a:t>BERT Fine-tuned</a:t>
                      </a:r>
                      <a:endParaRPr dirty="0">
                        <a:solidFill>
                          <a:schemeClr val="accent6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/>
                        <a:t>FinBERT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/>
                        <a:t>Negative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 dirty="0"/>
                        <a:t>0.265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 dirty="0">
                          <a:solidFill>
                            <a:schemeClr val="accent6"/>
                          </a:solidFill>
                        </a:rPr>
                        <a:t>0.721</a:t>
                      </a:r>
                      <a:endParaRPr dirty="0">
                        <a:solidFill>
                          <a:schemeClr val="accent6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/>
                        <a:t>0.587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/>
                        <a:t>Neutral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/>
                        <a:t>0.000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 dirty="0">
                          <a:solidFill>
                            <a:schemeClr val="accent6"/>
                          </a:solidFill>
                        </a:rPr>
                        <a:t>0.591</a:t>
                      </a:r>
                      <a:endParaRPr dirty="0">
                        <a:solidFill>
                          <a:schemeClr val="accent6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/>
                        <a:t>0.379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/>
                        <a:t>Positive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>
                          <a:solidFill>
                            <a:srgbClr val="FF0000"/>
                          </a:solidFill>
                        </a:rPr>
                        <a:t>0.532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 dirty="0">
                          <a:solidFill>
                            <a:schemeClr val="accent6"/>
                          </a:solidFill>
                        </a:rPr>
                        <a:t>0.838</a:t>
                      </a:r>
                      <a:endParaRPr dirty="0">
                        <a:solidFill>
                          <a:schemeClr val="accent6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 u="none" strike="noStrike" cap="none" dirty="0">
                          <a:solidFill>
                            <a:schemeClr val="tx1"/>
                          </a:solidFill>
                        </a:rPr>
                        <a:t>0.747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3" name="Google Shape;203;p9">
            <a:extLst>
              <a:ext uri="{FF2B5EF4-FFF2-40B4-BE49-F238E27FC236}">
                <a16:creationId xmlns:a16="http://schemas.microsoft.com/office/drawing/2014/main" id="{1B23A71F-B88F-2B7C-89D1-3EC793599FA6}"/>
              </a:ext>
            </a:extLst>
          </p:cNvPr>
          <p:cNvSpPr txBox="1"/>
          <p:nvPr/>
        </p:nvSpPr>
        <p:spPr>
          <a:xfrm>
            <a:off x="322071" y="1092631"/>
            <a:ext cx="9101136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Real-world test: 334 positive / 333 negative / 333 neutral — balanced for fair evaluation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Fine-tuned BERT leads: 72.9% accuracy, 71.7% F1 Weighted — outperforms </a:t>
            </a:r>
            <a:r>
              <a:rPr lang="en-GB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FinBERT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~13pp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FinBERT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struggles on Neutral (F1=0.379) despite domain pre-training; fine-tuned BERT achieves 0.591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9932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/>
          <p:cNvSpPr txBox="1">
            <a:spLocks noGrp="1"/>
          </p:cNvSpPr>
          <p:nvPr>
            <p:ph type="ctrTitle"/>
          </p:nvPr>
        </p:nvSpPr>
        <p:spPr>
          <a:xfrm>
            <a:off x="323022" y="570221"/>
            <a:ext cx="6980464" cy="203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2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Comparative Analysis</a:t>
            </a:r>
            <a:endParaRPr sz="3052" b="1" dirty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-62120" y="7542806"/>
            <a:ext cx="9144000" cy="16459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DAE104-62B5-C418-98D1-BAED397DB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50" y="1200149"/>
            <a:ext cx="4092145" cy="33731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D6AACE-86B3-DAE6-0623-8D63D72A6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66800"/>
            <a:ext cx="4313711" cy="3506478"/>
          </a:xfrm>
          <a:prstGeom prst="rect">
            <a:avLst/>
          </a:prstGeom>
        </p:spPr>
      </p:pic>
      <p:sp>
        <p:nvSpPr>
          <p:cNvPr id="8" name="Google Shape;208;p10">
            <a:extLst>
              <a:ext uri="{FF2B5EF4-FFF2-40B4-BE49-F238E27FC236}">
                <a16:creationId xmlns:a16="http://schemas.microsoft.com/office/drawing/2014/main" id="{598E9398-8E35-8E53-C193-B55E57834A41}"/>
              </a:ext>
            </a:extLst>
          </p:cNvPr>
          <p:cNvSpPr txBox="1">
            <a:spLocks/>
          </p:cNvSpPr>
          <p:nvPr/>
        </p:nvSpPr>
        <p:spPr>
          <a:xfrm>
            <a:off x="420993" y="4866090"/>
            <a:ext cx="3062436" cy="133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GB" sz="2400" b="1" dirty="0">
                <a:solidFill>
                  <a:srgbClr val="1F3864"/>
                </a:solidFill>
              </a:rPr>
              <a:t>Test Data</a:t>
            </a:r>
          </a:p>
        </p:txBody>
      </p:sp>
      <p:sp>
        <p:nvSpPr>
          <p:cNvPr id="9" name="Google Shape;208;p10">
            <a:extLst>
              <a:ext uri="{FF2B5EF4-FFF2-40B4-BE49-F238E27FC236}">
                <a16:creationId xmlns:a16="http://schemas.microsoft.com/office/drawing/2014/main" id="{FF3CB54D-EC70-8D86-86B9-BFDF1BF17790}"/>
              </a:ext>
            </a:extLst>
          </p:cNvPr>
          <p:cNvSpPr txBox="1">
            <a:spLocks/>
          </p:cNvSpPr>
          <p:nvPr/>
        </p:nvSpPr>
        <p:spPr>
          <a:xfrm>
            <a:off x="4789715" y="4879872"/>
            <a:ext cx="3062436" cy="133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GB" sz="2400" b="1" dirty="0">
                <a:solidFill>
                  <a:srgbClr val="1F3864"/>
                </a:solidFill>
              </a:rPr>
              <a:t>Collected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7A13B184-31B7-AA36-7917-EB0419804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>
            <a:extLst>
              <a:ext uri="{FF2B5EF4-FFF2-40B4-BE49-F238E27FC236}">
                <a16:creationId xmlns:a16="http://schemas.microsoft.com/office/drawing/2014/main" id="{9E4A55A8-63E9-FC46-E73B-E53D2A9F31D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23022" y="570221"/>
            <a:ext cx="6980464" cy="203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2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Comparative Analysis</a:t>
            </a:r>
            <a:endParaRPr sz="3052" b="1" dirty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>
            <a:extLst>
              <a:ext uri="{FF2B5EF4-FFF2-40B4-BE49-F238E27FC236}">
                <a16:creationId xmlns:a16="http://schemas.microsoft.com/office/drawing/2014/main" id="{8C9C6295-B339-8F30-E904-5B0E11B30902}"/>
              </a:ext>
            </a:extLst>
          </p:cNvPr>
          <p:cNvSpPr/>
          <p:nvPr/>
        </p:nvSpPr>
        <p:spPr>
          <a:xfrm>
            <a:off x="-62120" y="7542806"/>
            <a:ext cx="9144000" cy="16459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208;p10">
            <a:extLst>
              <a:ext uri="{FF2B5EF4-FFF2-40B4-BE49-F238E27FC236}">
                <a16:creationId xmlns:a16="http://schemas.microsoft.com/office/drawing/2014/main" id="{03539AC7-26C0-6582-E38A-CBA8949C29DA}"/>
              </a:ext>
            </a:extLst>
          </p:cNvPr>
          <p:cNvSpPr txBox="1">
            <a:spLocks/>
          </p:cNvSpPr>
          <p:nvPr/>
        </p:nvSpPr>
        <p:spPr>
          <a:xfrm>
            <a:off x="420993" y="4866090"/>
            <a:ext cx="3062436" cy="133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GB" sz="2400" b="1" dirty="0">
                <a:solidFill>
                  <a:srgbClr val="1F3864"/>
                </a:solidFill>
              </a:rPr>
              <a:t>Test Data</a:t>
            </a:r>
          </a:p>
        </p:txBody>
      </p:sp>
      <p:sp>
        <p:nvSpPr>
          <p:cNvPr id="9" name="Google Shape;208;p10">
            <a:extLst>
              <a:ext uri="{FF2B5EF4-FFF2-40B4-BE49-F238E27FC236}">
                <a16:creationId xmlns:a16="http://schemas.microsoft.com/office/drawing/2014/main" id="{3A8A870B-BA08-261B-767C-67B8F79271F1}"/>
              </a:ext>
            </a:extLst>
          </p:cNvPr>
          <p:cNvSpPr txBox="1">
            <a:spLocks/>
          </p:cNvSpPr>
          <p:nvPr/>
        </p:nvSpPr>
        <p:spPr>
          <a:xfrm>
            <a:off x="4789715" y="4879872"/>
            <a:ext cx="3062436" cy="133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GB" sz="2400" b="1" dirty="0">
                <a:solidFill>
                  <a:srgbClr val="1F3864"/>
                </a:solidFill>
              </a:rPr>
              <a:t>Collected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3F1302-D597-FC12-F1AA-C40A6375F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666" y="1415143"/>
            <a:ext cx="4135736" cy="27432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3C3A034-CFF3-AD54-F43F-3D4A2E83C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8" y="1415143"/>
            <a:ext cx="4245429" cy="266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75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739C8E32-FF85-4DD3-A4E6-C00B13BCE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>
            <a:extLst>
              <a:ext uri="{FF2B5EF4-FFF2-40B4-BE49-F238E27FC236}">
                <a16:creationId xmlns:a16="http://schemas.microsoft.com/office/drawing/2014/main" id="{6D699571-6C9B-B95E-6C30-07FF4188C3B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23022" y="406935"/>
            <a:ext cx="6980464" cy="203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2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Confusion Matrices  (Test Data)</a:t>
            </a:r>
            <a:endParaRPr sz="3052" b="1" dirty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>
            <a:extLst>
              <a:ext uri="{FF2B5EF4-FFF2-40B4-BE49-F238E27FC236}">
                <a16:creationId xmlns:a16="http://schemas.microsoft.com/office/drawing/2014/main" id="{A4DDB219-478E-D144-3C39-F48ECF28D115}"/>
              </a:ext>
            </a:extLst>
          </p:cNvPr>
          <p:cNvSpPr/>
          <p:nvPr/>
        </p:nvSpPr>
        <p:spPr>
          <a:xfrm>
            <a:off x="-62120" y="7542806"/>
            <a:ext cx="9144000" cy="16459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938EB2-E498-0373-9C78-2A963F87D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81" y="1285603"/>
            <a:ext cx="8651037" cy="284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33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>
          <a:extLst>
            <a:ext uri="{FF2B5EF4-FFF2-40B4-BE49-F238E27FC236}">
              <a16:creationId xmlns:a16="http://schemas.microsoft.com/office/drawing/2014/main" id="{07208261-47C1-6587-F446-CE6255C7A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">
            <a:extLst>
              <a:ext uri="{FF2B5EF4-FFF2-40B4-BE49-F238E27FC236}">
                <a16:creationId xmlns:a16="http://schemas.microsoft.com/office/drawing/2014/main" id="{53936697-A525-10E5-D36A-76316B31726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23022" y="406935"/>
            <a:ext cx="6980464" cy="203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52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Confusion Matrices (Collected Data)</a:t>
            </a:r>
            <a:endParaRPr sz="3052" b="1" dirty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>
            <a:extLst>
              <a:ext uri="{FF2B5EF4-FFF2-40B4-BE49-F238E27FC236}">
                <a16:creationId xmlns:a16="http://schemas.microsoft.com/office/drawing/2014/main" id="{3C54C53C-D987-1BCE-82D8-0AF2D30D073F}"/>
              </a:ext>
            </a:extLst>
          </p:cNvPr>
          <p:cNvSpPr/>
          <p:nvPr/>
        </p:nvSpPr>
        <p:spPr>
          <a:xfrm>
            <a:off x="-62120" y="7542806"/>
            <a:ext cx="9144000" cy="16459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7A1588-E98F-65D1-8A08-145EF4A55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80" y="1205261"/>
            <a:ext cx="7772400" cy="256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423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"/>
          <p:cNvSpPr txBox="1">
            <a:spLocks noGrp="1"/>
          </p:cNvSpPr>
          <p:nvPr>
            <p:ph type="ctrTitle"/>
          </p:nvPr>
        </p:nvSpPr>
        <p:spPr>
          <a:xfrm>
            <a:off x="935343" y="2846016"/>
            <a:ext cx="6980464" cy="203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GB" sz="2800" b="1" u="sng"/>
              <a:t>THANK YOU</a:t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-62120" y="7542806"/>
            <a:ext cx="9144000" cy="164592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845</Words>
  <Application>Microsoft Office PowerPoint</Application>
  <PresentationFormat>On-screen Show (16:9)</PresentationFormat>
  <Paragraphs>160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Collected Data</vt:lpstr>
      <vt:lpstr>Results — Collected Unseen Data (1,000 balanced samples)</vt:lpstr>
      <vt:lpstr>Comparative Analysis</vt:lpstr>
      <vt:lpstr>Comparative Analysis</vt:lpstr>
      <vt:lpstr>Confusion Matrices  (Test Data)</vt:lpstr>
      <vt:lpstr>Confusion Matrices (Collected Data)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Milind Mahajan</cp:lastModifiedBy>
  <cp:revision>11</cp:revision>
  <dcterms:modified xsi:type="dcterms:W3CDTF">2026-05-10T08:21:31Z</dcterms:modified>
</cp:coreProperties>
</file>